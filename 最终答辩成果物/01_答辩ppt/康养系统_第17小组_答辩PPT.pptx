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【0:00-0:22，约 22 秒｜本页 89 字】</a:t>
            </a:r>
          </a:p>
          <a:p>
            <a:r>
              <a:t>各位老师上午好，我们是第 17 小组，我们的项目是《基于 AI 智能体的康养系统》。下面按交付要求汇报六个部分：项目背景、人员分工、项目开发过程、AI 工具使用、成果展示，以及不足与展望。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【0:22-0:40，约 17 秒｜本页 69 字】</a:t>
            </a:r>
          </a:p>
          <a:p>
            <a:r>
              <a:t>汇报分六部分。老师特别强调开发过程是答辩的重要审查方向，所以第三部分占一半篇幅：需求分析矩阵、原型、数据库、概要设计、编码、测试都会讲到。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【0:40-1:19，约 39 秒｜本页 157 字】</a:t>
            </a:r>
          </a:p>
          <a:p>
            <a:r>
              <a:t>先说为什么要做这个项目。全国 60 岁以上人口已经到 3.1 亿、占 22%。落到养老机构里就是：一名护工要照看多位老人，健康数据还记在纸本上，异常靠人盯、事后才发现，家属拿不到同步信息。同时有三件事变了：国产大模型可以直连、成本降下来；前端工程化成熟，三个人也能做四端；AI 的落点从做一个聊天框，变成把模型放进业务流程里。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【1:19-1:48，约 29 秒｜本页 115 字】</a:t>
            </a:r>
          </a:p>
          <a:p>
            <a:r>
              <a:t>所以我们的定位是把 AI 放进业务闭环里。上面这条链就是闭环，起点不是用户提问，而是老人录入的一条异常数据。三条原则：业务不等模型，预警是后端规则算的，模型只写解读；AI 有硬边界，不执行 SQL、不判权限、不写库；四类角色数据严格隔离。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【1:48-2:18，约 30 秒｜本页 122 字】</a:t>
            </a:r>
          </a:p>
          <a:p>
            <a:r>
              <a:t>我们是三个人。丘宇乾是组长，负责后端、数据库、AI 编排和接口层，同时负责合并所有人的分支；梁霁鸣负责老人端 13 个界面和家属端 5 个界面；我负责护工端 6 个、管理员端 10 个界面，以及集成测试和测试成绩书。分工不是按页面数量平分的，是按文件所有权切的。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【2:18-2:50，约 32 秒｜本页 129 字】</a:t>
            </a:r>
          </a:p>
          <a:p>
            <a:r>
              <a:t>时间线上九个周有六个节点：9/8 需求评审交 125 条功能需求和需求跟踪矩阵；9/11 原型评审交 38 个界面；9/24 概要设计和数据库评审交说明书和核心表；10/16 代码终版；10/19 到 23 测试；然后今天答辩。过程上有三个抓手：文档先行、编号统一、评审后立即改。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【2:50-3:21，约 31 秒｜本页 123 字】</a:t>
            </a:r>
          </a:p>
          <a:p>
            <a:r>
              <a:t>需求分析阶段的核心产出是需求跟踪矩阵：125 条功能需求，核心 101、选配 24，每条都有正式编号；矩阵 49 条追踪条目，每条能追到界面编号、效果图序号和负责人。界面一共 38 个，下面按角色分开。我们做了四向追溯：需求到界面、界面到接口、接口到测试用例。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【3:21-3:51，约 30 秒｜本页 120 字】</a:t>
            </a:r>
          </a:p>
          <a:p>
            <a:r>
              <a:t>原型阶段 38 个界面全部出图，左边是总览。右边挑了三端代表页：老人端主打适老化，字号不小于 18 像素、按钮不小于 48 像素；护工端按异常优先排序，一屏看完待处理；管理员端是统计报表。原型里每一页的空数据、加载失败、无权限、会话过期四种状态都画了。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【3:51-4:20，约 29 秒｜本页 115 字】</a:t>
            </a:r>
          </a:p>
          <a:p>
            <a:r>
              <a:t>数据库 30 张表，核心 15 张，v2 扩展又加 15 张，左边是核心表关系图。五个设计策略：三范式、软删除加审计、阈值全部配置化进 sys_config、增量迁移、写路径用行锁保证并发正确。迁移验收用逐行比对，原有 15 张表 34 行数据全部一致。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【4:20-4:39，约 20 秒｜本页 78 字】</a:t>
            </a:r>
          </a:p>
          <a:p>
            <a:r>
              <a:t>概要设计按老师模板重构：9 个业务模块直接实现业务目标，6 个技术模块是被共用的基础设施。对外 45 个接口，另有 8 个模块间调用接口，实际暴露 62 个方法与路径组合。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【4:39-5:04，约 25 秒｜本页 99 字】</a:t>
            </a:r>
          </a:p>
          <a:p>
            <a:r>
              <a:t>高内聚低耦合写成了四条规则：接口层只做校验、鉴权、统一响应；业务模块只调技术模块，不自己开会话、不判权限；跨模块走 service 函数，不许直读别人的表；技术模块被 9 个模块复用，换数据库只改技术模块。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【5:04-5:50，约 46 秒｜本页 186 字】</a:t>
            </a:r>
          </a:p>
          <a:p>
            <a:r>
              <a:t>第一个重要算法是阈值判定与预警分发，六步。老人录入指标后先取阈值，个体阈值优先，否则用 sys_config 默认值；按收缩压、舒张压、心率、血糖分别判定取最高等级；预警和每个接收人的通知同事务写完；AI 在后台生成一段人话摘要，超时 8 秒；按授权关系分发给家属和护工，已读状态各自独立；最后护工填处理说明关闭，处理人、时间、说明全部留痕。关键点：判定这一步从头到尾没有 AI 参与。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【5:50-6:28，约 38 秒｜本页 152 字】</a:t>
            </a:r>
          </a:p>
          <a:p>
            <a:r>
              <a:t>第二个重要算法是 AI 咨询这条链路：先做输入与合规检查，命中紧急关键词直接升级；第二步意图识别，四类问题走四条路径；第三步检索增强，知识库分块取 Top-K；第四步输出过滤与降级，过滤诊断和调药建议，模型不可用返回 3001，业务照常可用。右边三条红线是写进设计和代码的：不执行 SQL、不判断权限、不写业务库。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【6:28-7:06，约 37 秒｜本页 148 字】</a:t>
            </a:r>
          </a:p>
          <a:p>
            <a:r>
              <a:t>编码阶段约 1.09 万行生产代码：后端 4792 行、前端 4350 行、数据库脚本 1792 行，119 个源文件；38 个界面全实现，OpenAPI 暴露 62 个方法路径。编码规约是写进仓库、互相审查的：统一响应、Pydantic 强校验、零手写 SQL、前端页面禁止 axios 只调 api 层函数、免责声明做成全局组件。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【7:06-7:41，约 35 秒｜本页 141 字】</a:t>
            </a:r>
          </a:p>
          <a:p>
            <a:r>
              <a:t>三个人并行最容易出问题。我们的做法不是靠分支技巧，是靠文件所有权：谁的目录谁改，别人的一眼别碰；路由分文件，index.js 只负责 import；接口契约先行，45 个接口先定下来，前端按契约用 mock 开发。结果代码文件一次冲突都没有，唯一需要人工合并的是需求跟踪矩阵这个共享 xlsx。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【7:41-8:20，约 39 秒｜本页 155 字】</a:t>
            </a:r>
          </a:p>
          <a:p>
            <a:r>
              <a:t>测试分四层：后端单元与业务 140 项通过；独立 SQLite 接口验收 24 项通过、8 项跳过（要 MySQL 行锁和事务快照）；临时 MySQL 库补上那 8 项，38 项全通过，包括并发、重复绑定、最后名额不超员；本机 Chrome 跑 44 项检查。另外按测试成绩书 40 项逐条截图留档。要求是每个数字都能对应一份可复现的脚本和结果文件。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【8:20-8:56，约 36 秒｜本页 146 字】</a:t>
            </a:r>
          </a:p>
          <a:p>
            <a:r>
              <a:t>我们做了一轮全量代码审查：后端 39 个文件、前端 60 个源文件逐行看，同时比对契约、跑全量测试和前端构建。结论是没有可直接利用的严重漏洞，一共登记 25 条：中危 4、低危 21。按 10.9 千行生产代码算，缺陷密度约 2.3 条每千行。下面是优先级最高的四条和修复方式，修完后端测试从 118 补到 140 项全绿。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【8:56-9:40，约 44 秒｜本页 177 字】</a:t>
            </a:r>
          </a:p>
          <a:p>
            <a:r>
              <a:t>AI 工具实际用了四块：编码上用 AI 编码助手，仓库里的 AGENTS.md 就是写给 AI 的工程约定，生成骨架、重构、补测试，每条都人工审查后才提交；文档上以 Markdown 为源，AI 出初稿、人工修订再转 docx；测试用 Playwright 脚本和截图做证据；审计上漏洞报告由审计代理产出，关键结论人工复核，复核时改了 2 处。纪律是：它可以加速，但不能替我们做判断。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【9:40-10:18，约 37 秒｜本页 149 字】</a:t>
            </a:r>
          </a:p>
          <a:p>
            <a:r>
              <a:t>成果展示：左边四张图都是真实浏览器联调时截的。右边是现场演示：老人端录入 180/110、心率 112；后端判高风险并建预警；家属端收到通知；护工端异常优先置顶，接单、填说明、关闭；最后两端都能查到处理人、时间和说明。演示用一键演示多窗口脚本，起隔离 SQLite 库，不写正式库；现场出问题就切演示视频。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【10:18-10:52，约 35 秒｜本页 140 字】</a:t>
            </a:r>
          </a:p>
          <a:p>
            <a:r>
              <a:t>最后说不足，只说真问题：过程上文档一直追着代码跑，v2 扩展没及时补进接口契约；技术上真实模型的质量和成本没完整验收，前端没有自动化单测；协作上企划书按 5 人、实际 3 人，组长一人担后端、数据库、AI 和接口，成了瓶颈。下一步先补三件事：补契约、加前端单测、用真实模型跑一轮带成本的评估。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【10:52-11:20，约 28 秒｜本页 110 字】</a:t>
            </a:r>
          </a:p>
          <a:p>
            <a:r>
              <a:t>我的汇报到这里，请各位老师批评指正。</a:t>
            </a:r>
          </a:p>
          <a:p>
            <a:r>
              <a:t>（问答纪律：听完再答；不会的就说这一点我还不了解，回去补；数字口径与 PPT 保持一致；高频问题：为什么不用现成健康管理平台 / AI 部分你具体做了什么 / 缺陷率怎么统计 / 三个人工作量怎么分。）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6304" y="0"/>
            <a:ext cx="45720" cy="6858000"/>
          </a:xfrm>
          <a:prstGeom prst="rect">
            <a:avLst/>
          </a:prstGeom>
          <a:solidFill>
            <a:srgbClr val="D08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371600"/>
            <a:ext cx="9144000" cy="396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9EC3D4"/>
                </a:solidFill>
                <a:latin typeface="微软雅黑"/>
                <a:ea typeface="微软雅黑"/>
                <a:cs typeface="微软雅黑"/>
              </a:rPr>
              <a:t>大连理工大学 · 2026 秋季实习实训 · 第 17 小组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920240"/>
            <a:ext cx="98755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52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基于 AI 智能体的康养系统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108960"/>
            <a:ext cx="9875520" cy="5132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0" i="0">
                <a:solidFill>
                  <a:srgbClr val="BFD7E2"/>
                </a:solidFill>
                <a:latin typeface="微软雅黑"/>
                <a:ea typeface="微软雅黑"/>
                <a:cs typeface="微软雅黑"/>
              </a:rPr>
              <a:t>面向养老机构的主动式健康管理平台</a:t>
            </a:r>
          </a:p>
        </p:txBody>
      </p:sp>
      <p:sp>
        <p:nvSpPr>
          <p:cNvPr id="8" name="Rectangle 7"/>
          <p:cNvSpPr/>
          <p:nvPr/>
        </p:nvSpPr>
        <p:spPr>
          <a:xfrm>
            <a:off x="960120" y="3785615"/>
            <a:ext cx="1463040" cy="45720"/>
          </a:xfrm>
          <a:prstGeom prst="rect">
            <a:avLst/>
          </a:prstGeom>
          <a:solidFill>
            <a:srgbClr val="D08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4059936"/>
            <a:ext cx="8229600" cy="4353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D08A2C"/>
                </a:solidFill>
                <a:latin typeface="微软雅黑"/>
                <a:ea typeface="微软雅黑"/>
                <a:cs typeface="微软雅黑"/>
              </a:rPr>
              <a:t>答辩汇报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700016"/>
            <a:ext cx="9144000" cy="4743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丘宇乾　梁霁鸣　周彦龙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5266944"/>
            <a:ext cx="8229600" cy="396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9EC3D4"/>
                </a:solidFill>
                <a:latin typeface="微软雅黑"/>
                <a:ea typeface="微软雅黑"/>
                <a:cs typeface="微软雅黑"/>
              </a:rPr>
              <a:t>2026 年 10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8229600" cy="396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0E6E8C"/>
                </a:solidFill>
                <a:latin typeface="微软雅黑"/>
                <a:ea typeface="微软雅黑"/>
                <a:cs typeface="微软雅黑"/>
              </a:rPr>
              <a:t>汇报框架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68096"/>
            <a:ext cx="1050919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1B2A33"/>
                </a:solidFill>
                <a:latin typeface="微软雅黑"/>
                <a:ea typeface="微软雅黑"/>
                <a:cs typeface="微软雅黑"/>
              </a:rPr>
              <a:t>本次汇报的六个部分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48695" y="6199632"/>
            <a:ext cx="548640" cy="396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4E606B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627632"/>
            <a:ext cx="3456432" cy="1920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773936"/>
            <a:ext cx="822960" cy="4353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D08A2C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377440"/>
            <a:ext cx="2907791" cy="4452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1B2A33"/>
                </a:solidFill>
                <a:latin typeface="微软雅黑"/>
                <a:ea typeface="微软雅黑"/>
                <a:cs typeface="微软雅黑"/>
              </a:rPr>
              <a:t>项目背景与定位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944368"/>
            <a:ext cx="2907791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4E606B"/>
                </a:solidFill>
                <a:latin typeface="微软雅黑"/>
                <a:ea typeface="微软雅黑"/>
                <a:cs typeface="微软雅黑"/>
              </a:rPr>
              <a:t>为什么做这个项目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61688" y="1627632"/>
            <a:ext cx="3456432" cy="1920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36007" y="1773936"/>
            <a:ext cx="822960" cy="4353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D08A2C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6007" y="2377440"/>
            <a:ext cx="2907791" cy="4452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1B2A33"/>
                </a:solidFill>
                <a:latin typeface="微软雅黑"/>
                <a:ea typeface="微软雅黑"/>
                <a:cs typeface="微软雅黑"/>
              </a:rPr>
              <a:t>团队与分工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7" y="2944368"/>
            <a:ext cx="2907791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4E606B"/>
                </a:solidFill>
                <a:latin typeface="微软雅黑"/>
                <a:ea typeface="微软雅黑"/>
                <a:cs typeface="微软雅黑"/>
              </a:rPr>
              <a:t>三个人怎么分工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56447" y="1627632"/>
            <a:ext cx="3456432" cy="1920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30767" y="1773936"/>
            <a:ext cx="822960" cy="4353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D08A2C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30767" y="2377440"/>
            <a:ext cx="2907791" cy="4452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1B2A33"/>
                </a:solidFill>
                <a:latin typeface="微软雅黑"/>
                <a:ea typeface="微软雅黑"/>
                <a:cs typeface="微软雅黑"/>
              </a:rPr>
              <a:t>项目开发过程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0767" y="2944368"/>
            <a:ext cx="2907791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4E606B"/>
                </a:solidFill>
                <a:latin typeface="微软雅黑"/>
                <a:ea typeface="微软雅黑"/>
                <a:cs typeface="微软雅黑"/>
              </a:rPr>
              <a:t>六步，重点讲这一块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785616"/>
            <a:ext cx="3456432" cy="1920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" y="3931920"/>
            <a:ext cx="822960" cy="4353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D08A2C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7" y="4535424"/>
            <a:ext cx="2907791" cy="4452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1B2A33"/>
                </a:solidFill>
                <a:latin typeface="微软雅黑"/>
                <a:ea typeface="微软雅黑"/>
                <a:cs typeface="微软雅黑"/>
              </a:rPr>
              <a:t>使用的 AI 工具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" y="5102352"/>
            <a:ext cx="2907791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4E606B"/>
                </a:solidFill>
                <a:latin typeface="微软雅黑"/>
                <a:ea typeface="微软雅黑"/>
                <a:cs typeface="微软雅黑"/>
              </a:rPr>
              <a:t>四块实际用法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61688" y="3785616"/>
            <a:ext cx="3456432" cy="1920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36007" y="3931920"/>
            <a:ext cx="822960" cy="4353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D08A2C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36007" y="4535424"/>
            <a:ext cx="2907791" cy="4452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1B2A33"/>
                </a:solidFill>
                <a:latin typeface="微软雅黑"/>
                <a:ea typeface="微软雅黑"/>
                <a:cs typeface="微软雅黑"/>
              </a:rPr>
              <a:t>项目成果展示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36007" y="5102352"/>
            <a:ext cx="2907791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4E606B"/>
                </a:solidFill>
                <a:latin typeface="微软雅黑"/>
                <a:ea typeface="微软雅黑"/>
                <a:cs typeface="微软雅黑"/>
              </a:rPr>
              <a:t>现场跑一遍闭环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56447" y="3785616"/>
            <a:ext cx="3456432" cy="1920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30767" y="3931920"/>
            <a:ext cx="822960" cy="4353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D08A2C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30767" y="4535424"/>
            <a:ext cx="2907791" cy="4452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1B2A33"/>
                </a:solidFill>
                <a:latin typeface="微软雅黑"/>
                <a:ea typeface="微软雅黑"/>
                <a:cs typeface="微软雅黑"/>
              </a:rPr>
              <a:t>不足与展望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30767" y="5102352"/>
            <a:ext cx="2907791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4E606B"/>
                </a:solidFill>
                <a:latin typeface="微软雅黑"/>
                <a:ea typeface="微软雅黑"/>
                <a:cs typeface="微软雅黑"/>
              </a:rPr>
              <a:t>三条真问题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8229600" cy="396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0E6E8C"/>
                </a:solidFill>
                <a:latin typeface="微软雅黑"/>
                <a:ea typeface="微软雅黑"/>
                <a:cs typeface="微软雅黑"/>
              </a:rPr>
              <a:t>① 项目背景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68096"/>
            <a:ext cx="1050919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1B2A33"/>
                </a:solidFill>
                <a:latin typeface="微软雅黑"/>
                <a:ea typeface="微软雅黑"/>
                <a:cs typeface="微软雅黑"/>
              </a:rPr>
              <a:t>需求在涨，养老机构的数字化程度在等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48695" y="6199632"/>
            <a:ext cx="548640" cy="396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4E606B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554480"/>
            <a:ext cx="3584448" cy="22128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645920"/>
            <a:ext cx="3072384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800" b="1" i="0">
                <a:solidFill>
                  <a:srgbClr val="0E6E8C"/>
                </a:solidFill>
                <a:latin typeface="微软雅黑"/>
                <a:ea typeface="微软雅黑"/>
                <a:cs typeface="微软雅黑"/>
              </a:rPr>
              <a:t>3.1 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468880"/>
            <a:ext cx="3072384" cy="4353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1B2A33"/>
                </a:solidFill>
                <a:latin typeface="微软雅黑"/>
                <a:ea typeface="微软雅黑"/>
                <a:cs typeface="微软雅黑"/>
              </a:rPr>
              <a:t>60 岁以上人口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926080"/>
            <a:ext cx="307238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4E606B"/>
                </a:solidFill>
                <a:latin typeface="微软雅黑"/>
                <a:ea typeface="微软雅黑"/>
                <a:cs typeface="微软雅黑"/>
              </a:rPr>
              <a:t>占总人口 22%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06824" y="1554480"/>
            <a:ext cx="3584448" cy="22128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81144" y="1645920"/>
            <a:ext cx="3072384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800" b="1" i="0">
                <a:solidFill>
                  <a:srgbClr val="0E6E8C"/>
                </a:solidFill>
                <a:latin typeface="微软雅黑"/>
                <a:ea typeface="微软雅黑"/>
                <a:cs typeface="微软雅黑"/>
              </a:rPr>
              <a:t>多位/人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81144" y="2468880"/>
            <a:ext cx="3072384" cy="4353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1B2A33"/>
                </a:solidFill>
                <a:latin typeface="微软雅黑"/>
                <a:ea typeface="微软雅黑"/>
                <a:cs typeface="微软雅黑"/>
              </a:rPr>
              <a:t>一名护工照看多人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81144" y="2926080"/>
            <a:ext cx="307238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4E606B"/>
                </a:solidFill>
                <a:latin typeface="微软雅黑"/>
                <a:ea typeface="微软雅黑"/>
                <a:cs typeface="微软雅黑"/>
              </a:rPr>
              <a:t>人力紧、异常靠人盯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19" y="1554480"/>
            <a:ext cx="3584448" cy="22128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645920"/>
            <a:ext cx="3072384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800" b="1" i="0">
                <a:solidFill>
                  <a:srgbClr val="0E6E8C"/>
                </a:solidFill>
                <a:latin typeface="微软雅黑"/>
                <a:ea typeface="微软雅黑"/>
                <a:cs typeface="微软雅黑"/>
              </a:rPr>
              <a:t>纸质/事后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468880"/>
            <a:ext cx="3072384" cy="4353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1B2A33"/>
                </a:solidFill>
                <a:latin typeface="微软雅黑"/>
                <a:ea typeface="微软雅黑"/>
                <a:cs typeface="微软雅黑"/>
              </a:rPr>
              <a:t>数据记在纸本上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926080"/>
            <a:ext cx="307238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4E606B"/>
                </a:solidFill>
                <a:latin typeface="微软雅黑"/>
                <a:ea typeface="微软雅黑"/>
                <a:cs typeface="微软雅黑"/>
              </a:rPr>
              <a:t>发现滞后、家属不知情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4041648"/>
            <a:ext cx="11057839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1400"/>
              </a:spcAft>
            </a:pPr>
            <a:r>
              <a:rPr sz="2000" b="1" i="0">
                <a:solidFill>
                  <a:srgbClr val="0E6E8C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2000" b="1" i="0">
                <a:solidFill>
                  <a:srgbClr val="1B2A33"/>
                </a:solidFill>
                <a:latin typeface="微软雅黑"/>
                <a:ea typeface="微软雅黑"/>
                <a:cs typeface="微软雅黑"/>
              </a:rPr>
              <a:t>大模型可用了</a:t>
            </a:r>
            <a:r>
              <a:rPr sz="2000" b="0" i="0">
                <a:solidFill>
                  <a:srgbClr val="1B2A33"/>
                </a:solidFill>
                <a:latin typeface="微软雅黑"/>
                <a:ea typeface="微软雅黑"/>
                <a:cs typeface="微软雅黑"/>
              </a:rPr>
              <a:t>：国产模型直接调用，成本降下来了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400"/>
              </a:spcAft>
            </a:pPr>
            <a:r>
              <a:rPr sz="2000" b="1" i="0">
                <a:solidFill>
                  <a:srgbClr val="0E6E8C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2000" b="1" i="0">
                <a:solidFill>
                  <a:srgbClr val="1B2A33"/>
                </a:solidFill>
                <a:latin typeface="微软雅黑"/>
                <a:ea typeface="微软雅黑"/>
                <a:cs typeface="微软雅黑"/>
              </a:rPr>
              <a:t>前端工程化</a:t>
            </a:r>
            <a:r>
              <a:rPr sz="2000" b="0" i="0">
                <a:solidFill>
                  <a:srgbClr val="1B2A33"/>
                </a:solidFill>
                <a:latin typeface="微软雅黑"/>
                <a:ea typeface="微软雅黑"/>
                <a:cs typeface="微软雅黑"/>
              </a:rPr>
              <a:t>：三个人也能做出四端界面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400"/>
              </a:spcAft>
            </a:pPr>
            <a:r>
              <a:rPr sz="2000" b="1" i="0">
                <a:solidFill>
                  <a:srgbClr val="0E6E8C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2000" b="1" i="0">
                <a:solidFill>
                  <a:srgbClr val="1B2A33"/>
                </a:solidFill>
                <a:latin typeface="微软雅黑"/>
                <a:ea typeface="微软雅黑"/>
                <a:cs typeface="微软雅黑"/>
              </a:rPr>
              <a:t>AI 的落点变了</a:t>
            </a:r>
            <a:r>
              <a:rPr sz="2000" b="0" i="0">
                <a:solidFill>
                  <a:srgbClr val="1B2A33"/>
                </a:solidFill>
                <a:latin typeface="微软雅黑"/>
                <a:ea typeface="微软雅黑"/>
                <a:cs typeface="微软雅黑"/>
              </a:rPr>
              <a:t>：从“聊天框”转向“放进业务流程”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8229600" cy="396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0E6E8C"/>
                </a:solidFill>
                <a:latin typeface="微软雅黑"/>
                <a:ea typeface="微软雅黑"/>
                <a:cs typeface="微软雅黑"/>
              </a:rPr>
              <a:t>① 项目背景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68096"/>
            <a:ext cx="1050919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1B2A33"/>
                </a:solidFill>
                <a:latin typeface="微软雅黑"/>
                <a:ea typeface="微软雅黑"/>
                <a:cs typeface="微软雅黑"/>
              </a:rPr>
              <a:t>我们的定位：把 AI 放进业务闭环里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48695" y="6199632"/>
            <a:ext cx="548640" cy="396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4E606B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609344"/>
            <a:ext cx="1481328" cy="914400"/>
          </a:xfrm>
          <a:prstGeom prst="roundRect">
            <a:avLst>
              <a:gd name="adj" fmla="val 8000"/>
            </a:avLst>
          </a:prstGeom>
          <a:solidFill>
            <a:srgbClr val="6E85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1609344"/>
            <a:ext cx="13716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数据采集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80844" y="1609344"/>
            <a:ext cx="1481328" cy="914400"/>
          </a:xfrm>
          <a:prstGeom prst="roundRect">
            <a:avLst>
              <a:gd name="adj" fmla="val 8000"/>
            </a:avLst>
          </a:prstGeom>
          <a:solidFill>
            <a:srgbClr val="173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35708" y="1609344"/>
            <a:ext cx="13716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AI 分析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94760" y="1609344"/>
            <a:ext cx="1481328" cy="914400"/>
          </a:xfrm>
          <a:prstGeom prst="roundRect">
            <a:avLst>
              <a:gd name="adj" fmla="val 8000"/>
            </a:avLst>
          </a:prstGeom>
          <a:solidFill>
            <a:srgbClr val="173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9624" y="1609344"/>
            <a:ext cx="13716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健康咨询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08676" y="1609344"/>
            <a:ext cx="1481328" cy="914400"/>
          </a:xfrm>
          <a:prstGeom prst="roundRect">
            <a:avLst>
              <a:gd name="adj" fmla="val 8000"/>
            </a:avLst>
          </a:prstGeom>
          <a:solidFill>
            <a:srgbClr val="0E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63540" y="1609344"/>
            <a:ext cx="13716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异常检测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22592" y="1609344"/>
            <a:ext cx="1481328" cy="914400"/>
          </a:xfrm>
          <a:prstGeom prst="roundRect">
            <a:avLst>
              <a:gd name="adj" fmla="val 8000"/>
            </a:avLst>
          </a:prstGeom>
          <a:solidFill>
            <a:srgbClr val="0E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77456" y="1609344"/>
            <a:ext cx="13716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预警推送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36508" y="1609344"/>
            <a:ext cx="1481328" cy="914400"/>
          </a:xfrm>
          <a:prstGeom prst="roundRect">
            <a:avLst>
              <a:gd name="adj" fmla="val 8000"/>
            </a:avLst>
          </a:prstGeom>
          <a:solidFill>
            <a:srgbClr val="6E85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91372" y="1609344"/>
            <a:ext cx="13716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家属/护工处理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250424" y="1609344"/>
            <a:ext cx="1481328" cy="914400"/>
          </a:xfrm>
          <a:prstGeom prst="roundRect">
            <a:avLst>
              <a:gd name="adj" fmla="val 8000"/>
            </a:avLst>
          </a:prstGeom>
          <a:solidFill>
            <a:srgbClr val="6E85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05288" y="1609344"/>
            <a:ext cx="13716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处理记录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2834640"/>
            <a:ext cx="3584448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66928" y="2834640"/>
            <a:ext cx="54864" cy="1783080"/>
          </a:xfrm>
          <a:prstGeom prst="rect">
            <a:avLst/>
          </a:prstGeom>
          <a:solidFill>
            <a:srgbClr val="D08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" y="2962656"/>
            <a:ext cx="3145536" cy="4743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1B2A33"/>
                </a:solidFill>
                <a:latin typeface="微软雅黑"/>
                <a:ea typeface="微软雅黑"/>
                <a:cs typeface="微软雅黑"/>
              </a:rPr>
              <a:t>业务不等模型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" y="3602736"/>
            <a:ext cx="3145536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4E606B"/>
                </a:solidFill>
                <a:latin typeface="微软雅黑"/>
                <a:ea typeface="微软雅黑"/>
                <a:cs typeface="微软雅黑"/>
              </a:rPr>
              <a:t>预警由规则判定，AI 只写解读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06824" y="2834640"/>
            <a:ext cx="3584448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06824" y="2834640"/>
            <a:ext cx="54864" cy="1783080"/>
          </a:xfrm>
          <a:prstGeom prst="rect">
            <a:avLst/>
          </a:prstGeom>
          <a:solidFill>
            <a:srgbClr val="0E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17720" y="2962656"/>
            <a:ext cx="3145536" cy="4743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1B2A33"/>
                </a:solidFill>
                <a:latin typeface="微软雅黑"/>
                <a:ea typeface="微软雅黑"/>
                <a:cs typeface="微软雅黑"/>
              </a:rPr>
              <a:t>AI 有硬边界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7720" y="3602736"/>
            <a:ext cx="3145536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4E606B"/>
                </a:solidFill>
                <a:latin typeface="微软雅黑"/>
                <a:ea typeface="微软雅黑"/>
                <a:cs typeface="微软雅黑"/>
              </a:rPr>
              <a:t>不执行 SQL、不判权限、不写库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19" y="2834640"/>
            <a:ext cx="3584448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46719" y="2834640"/>
            <a:ext cx="54864" cy="1783080"/>
          </a:xfrm>
          <a:prstGeom prst="rect">
            <a:avLst/>
          </a:prstGeom>
          <a:solidFill>
            <a:srgbClr val="0E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57615" y="2962656"/>
            <a:ext cx="3145536" cy="4743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1B2A33"/>
                </a:solidFill>
                <a:latin typeface="微软雅黑"/>
                <a:ea typeface="微软雅黑"/>
                <a:cs typeface="微软雅黑"/>
              </a:rPr>
              <a:t>四角色隔离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57615" y="3602736"/>
            <a:ext cx="3145536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4E606B"/>
                </a:solidFill>
                <a:latin typeface="微软雅黑"/>
                <a:ea typeface="微软雅黑"/>
                <a:cs typeface="微软雅黑"/>
              </a:rPr>
              <a:t>老人、家属、护工、管理员各看各的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4956048"/>
            <a:ext cx="11057839" cy="4353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E6E8C"/>
                </a:solidFill>
                <a:latin typeface="微软雅黑"/>
                <a:ea typeface="微软雅黑"/>
                <a:cs typeface="微软雅黑"/>
              </a:rPr>
              <a:t>闭环起点不是用户提问，是老人录入的一条异常数据。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8229600" cy="396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0E6E8C"/>
                </a:solidFill>
                <a:latin typeface="微软雅黑"/>
                <a:ea typeface="微软雅黑"/>
                <a:cs typeface="微软雅黑"/>
              </a:rPr>
              <a:t>② 团队与分工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68096"/>
            <a:ext cx="1050919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1B2A33"/>
                </a:solidFill>
                <a:latin typeface="微软雅黑"/>
                <a:ea typeface="微软雅黑"/>
                <a:cs typeface="微软雅黑"/>
              </a:rPr>
              <a:t>三个人，各管一块，按文件所有权切分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48695" y="6199632"/>
            <a:ext cx="548640" cy="396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4E606B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572768"/>
            <a:ext cx="3529584" cy="3566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72768"/>
            <a:ext cx="3529584" cy="91440"/>
          </a:xfrm>
          <a:prstGeom prst="rect">
            <a:avLst/>
          </a:prstGeom>
          <a:solidFill>
            <a:srgbClr val="D08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828800"/>
            <a:ext cx="2980944" cy="5410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1B2A33"/>
                </a:solidFill>
                <a:latin typeface="微软雅黑"/>
                <a:ea typeface="微软雅黑"/>
                <a:cs typeface="微软雅黑"/>
              </a:rPr>
              <a:t>丘宇乾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468880"/>
            <a:ext cx="2980944" cy="396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0E6E8C"/>
                </a:solidFill>
                <a:latin typeface="微软雅黑"/>
                <a:ea typeface="微软雅黑"/>
                <a:cs typeface="微软雅黑"/>
              </a:rPr>
              <a:t>组长 · 后端与 AI</a:t>
            </a:r>
          </a:p>
        </p:txBody>
      </p:sp>
      <p:sp>
        <p:nvSpPr>
          <p:cNvPr id="9" name="Rectangle 8"/>
          <p:cNvSpPr/>
          <p:nvPr/>
        </p:nvSpPr>
        <p:spPr>
          <a:xfrm>
            <a:off x="859536" y="2944368"/>
            <a:ext cx="2944368" cy="12801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3127248"/>
            <a:ext cx="2944368" cy="3874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1B2A33"/>
                </a:solidFill>
                <a:latin typeface="微软雅黑"/>
                <a:ea typeface="微软雅黑"/>
                <a:cs typeface="微软雅黑"/>
              </a:rPr>
              <a:t>· 后端与数据库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3730752"/>
            <a:ext cx="2944368" cy="3874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1B2A33"/>
                </a:solidFill>
                <a:latin typeface="微软雅黑"/>
                <a:ea typeface="微软雅黑"/>
                <a:cs typeface="微软雅黑"/>
              </a:rPr>
              <a:t>· AI 编排与接口层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4334256"/>
            <a:ext cx="2944368" cy="3874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1B2A33"/>
                </a:solidFill>
                <a:latin typeface="微软雅黑"/>
                <a:ea typeface="微软雅黑"/>
                <a:cs typeface="微软雅黑"/>
              </a:rPr>
              <a:t>· 分支合并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34256" y="1572768"/>
            <a:ext cx="3529584" cy="3566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34256" y="1572768"/>
            <a:ext cx="3529584" cy="91440"/>
          </a:xfrm>
          <a:prstGeom prst="rect">
            <a:avLst/>
          </a:prstGeom>
          <a:solidFill>
            <a:srgbClr val="0E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26864" y="1828800"/>
            <a:ext cx="2980944" cy="5410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1B2A33"/>
                </a:solidFill>
                <a:latin typeface="微软雅黑"/>
                <a:ea typeface="微软雅黑"/>
                <a:cs typeface="微软雅黑"/>
              </a:rPr>
              <a:t>梁霁鸣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6864" y="2468880"/>
            <a:ext cx="2980944" cy="396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0E6E8C"/>
                </a:solidFill>
                <a:latin typeface="微软雅黑"/>
                <a:ea typeface="微软雅黑"/>
                <a:cs typeface="微软雅黑"/>
              </a:rPr>
              <a:t>老人端 + 家属端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26864" y="2944368"/>
            <a:ext cx="2944368" cy="12801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26864" y="3127248"/>
            <a:ext cx="2944368" cy="3874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1B2A33"/>
                </a:solidFill>
                <a:latin typeface="微软雅黑"/>
                <a:ea typeface="微软雅黑"/>
                <a:cs typeface="微软雅黑"/>
              </a:rPr>
              <a:t>· 老人端 13 个界面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26864" y="3730752"/>
            <a:ext cx="2944368" cy="3874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1B2A33"/>
                </a:solidFill>
                <a:latin typeface="微软雅黑"/>
                <a:ea typeface="微软雅黑"/>
                <a:cs typeface="微软雅黑"/>
              </a:rPr>
              <a:t>· 家属端 5 个界面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26864" y="4334256"/>
            <a:ext cx="2944368" cy="3874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1B2A33"/>
                </a:solidFill>
                <a:latin typeface="微软雅黑"/>
                <a:ea typeface="微软雅黑"/>
                <a:cs typeface="微软雅黑"/>
              </a:rPr>
              <a:t>· 公共与认证页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01583" y="1572768"/>
            <a:ext cx="3529584" cy="3566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01583" y="1572768"/>
            <a:ext cx="3529584" cy="91440"/>
          </a:xfrm>
          <a:prstGeom prst="rect">
            <a:avLst/>
          </a:prstGeom>
          <a:solidFill>
            <a:srgbClr val="0E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94192" y="1828800"/>
            <a:ext cx="2980944" cy="5410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1B2A33"/>
                </a:solidFill>
                <a:latin typeface="微软雅黑"/>
                <a:ea typeface="微软雅黑"/>
                <a:cs typeface="微软雅黑"/>
              </a:rPr>
              <a:t>周彦龙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94192" y="2468880"/>
            <a:ext cx="2980944" cy="396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0E6E8C"/>
                </a:solidFill>
                <a:latin typeface="微软雅黑"/>
                <a:ea typeface="微软雅黑"/>
                <a:cs typeface="微软雅黑"/>
              </a:rPr>
              <a:t>护工端 + 管理员端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94192" y="2944368"/>
            <a:ext cx="2944368" cy="12801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94192" y="3127248"/>
            <a:ext cx="2944368" cy="3874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1B2A33"/>
                </a:solidFill>
                <a:latin typeface="微软雅黑"/>
                <a:ea typeface="微软雅黑"/>
                <a:cs typeface="微软雅黑"/>
              </a:rPr>
              <a:t>· 护工端 6 个界面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94192" y="3730752"/>
            <a:ext cx="2944368" cy="3874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1B2A33"/>
                </a:solidFill>
                <a:latin typeface="微软雅黑"/>
                <a:ea typeface="微软雅黑"/>
                <a:cs typeface="微软雅黑"/>
              </a:rPr>
              <a:t>· 管理员端 10 个界面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94192" y="4334256"/>
            <a:ext cx="2944368" cy="3874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1B2A33"/>
                </a:solidFill>
                <a:latin typeface="微软雅黑"/>
                <a:ea typeface="微软雅黑"/>
                <a:cs typeface="微软雅黑"/>
              </a:rPr>
              <a:t>· 集成测试与成绩书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5358384"/>
            <a:ext cx="1105783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4E606B"/>
                </a:solidFill>
                <a:latin typeface="微软雅黑"/>
                <a:ea typeface="微软雅黑"/>
                <a:cs typeface="微软雅黑"/>
              </a:rPr>
              <a:t>分工按文件所有权切：谁的目录谁改，从源头不碰同一个文件。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8229600" cy="396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0E6E8C"/>
                </a:solidFill>
                <a:latin typeface="微软雅黑"/>
                <a:ea typeface="微软雅黑"/>
                <a:cs typeface="微软雅黑"/>
              </a:rPr>
              <a:t>③ 项目开发过程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68096"/>
            <a:ext cx="1050919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1B2A33"/>
                </a:solidFill>
                <a:latin typeface="微软雅黑"/>
                <a:ea typeface="微软雅黑"/>
                <a:cs typeface="微软雅黑"/>
              </a:rPr>
              <a:t>九周，六个节点，每个节点都有产出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48695" y="6199632"/>
            <a:ext cx="548640" cy="396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4E606B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572768"/>
            <a:ext cx="3456432" cy="17556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72768"/>
            <a:ext cx="54864" cy="1755648"/>
          </a:xfrm>
          <a:prstGeom prst="rect">
            <a:avLst/>
          </a:prstGeom>
          <a:solidFill>
            <a:srgbClr val="0E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719072"/>
            <a:ext cx="1828800" cy="396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0E6E8C"/>
                </a:solidFill>
                <a:latin typeface="微软雅黑"/>
                <a:ea typeface="微软雅黑"/>
                <a:cs typeface="微软雅黑"/>
              </a:rPr>
              <a:t>9/08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94560"/>
            <a:ext cx="2907791" cy="4452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1B2A33"/>
                </a:solidFill>
                <a:latin typeface="微软雅黑"/>
                <a:ea typeface="微软雅黑"/>
                <a:cs typeface="微软雅黑"/>
              </a:rPr>
              <a:t>需求评审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724912"/>
            <a:ext cx="2907791" cy="396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4E606B"/>
                </a:solidFill>
                <a:latin typeface="微软雅黑"/>
                <a:ea typeface="微软雅黑"/>
                <a:cs typeface="微软雅黑"/>
              </a:rPr>
              <a:t>125 条 FR + RTM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1688" y="1572768"/>
            <a:ext cx="3456432" cy="17556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61688" y="1572768"/>
            <a:ext cx="54864" cy="1755648"/>
          </a:xfrm>
          <a:prstGeom prst="rect">
            <a:avLst/>
          </a:prstGeom>
          <a:solidFill>
            <a:srgbClr val="D08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7" y="1719072"/>
            <a:ext cx="1828800" cy="396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D08A2C"/>
                </a:solidFill>
                <a:latin typeface="微软雅黑"/>
                <a:ea typeface="微软雅黑"/>
                <a:cs typeface="微软雅黑"/>
              </a:rPr>
              <a:t>9/11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7" y="2194560"/>
            <a:ext cx="2907791" cy="4452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1B2A33"/>
                </a:solidFill>
                <a:latin typeface="微软雅黑"/>
                <a:ea typeface="微软雅黑"/>
                <a:cs typeface="微软雅黑"/>
              </a:rPr>
              <a:t>原型评审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7" y="2724912"/>
            <a:ext cx="2907791" cy="396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4E606B"/>
                </a:solidFill>
                <a:latin typeface="微软雅黑"/>
                <a:ea typeface="微软雅黑"/>
                <a:cs typeface="微软雅黑"/>
              </a:rPr>
              <a:t>38 个界面效果图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56447" y="1572768"/>
            <a:ext cx="3456432" cy="17556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56447" y="1572768"/>
            <a:ext cx="54864" cy="1755648"/>
          </a:xfrm>
          <a:prstGeom prst="rect">
            <a:avLst/>
          </a:prstGeom>
          <a:solidFill>
            <a:srgbClr val="0E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0767" y="1719072"/>
            <a:ext cx="1828800" cy="396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0E6E8C"/>
                </a:solidFill>
                <a:latin typeface="微软雅黑"/>
                <a:ea typeface="微软雅黑"/>
                <a:cs typeface="微软雅黑"/>
              </a:rPr>
              <a:t>9/24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30767" y="2194560"/>
            <a:ext cx="2907791" cy="4452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1B2A33"/>
                </a:solidFill>
                <a:latin typeface="微软雅黑"/>
                <a:ea typeface="微软雅黑"/>
                <a:cs typeface="微软雅黑"/>
              </a:rPr>
              <a:t>概要设计评审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0767" y="2724912"/>
            <a:ext cx="2907791" cy="396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4E606B"/>
                </a:solidFill>
                <a:latin typeface="微软雅黑"/>
                <a:ea typeface="微软雅黑"/>
                <a:cs typeface="微软雅黑"/>
              </a:rPr>
              <a:t>说明书 + 15 张表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3511296"/>
            <a:ext cx="3456432" cy="17556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8" y="3511296"/>
            <a:ext cx="54864" cy="1755648"/>
          </a:xfrm>
          <a:prstGeom prst="rect">
            <a:avLst/>
          </a:prstGeom>
          <a:solidFill>
            <a:srgbClr val="D08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7" y="3657600"/>
            <a:ext cx="1828800" cy="396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D08A2C"/>
                </a:solidFill>
                <a:latin typeface="微软雅黑"/>
                <a:ea typeface="微软雅黑"/>
                <a:cs typeface="微软雅黑"/>
              </a:rPr>
              <a:t>10/16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7" y="4133087"/>
            <a:ext cx="2907791" cy="4452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1B2A33"/>
                </a:solidFill>
                <a:latin typeface="微软雅黑"/>
                <a:ea typeface="微软雅黑"/>
                <a:cs typeface="微软雅黑"/>
              </a:rPr>
              <a:t>代码终版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7" y="4663440"/>
            <a:ext cx="2907791" cy="396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4E606B"/>
                </a:solidFill>
                <a:latin typeface="微软雅黑"/>
                <a:ea typeface="微软雅黑"/>
                <a:cs typeface="微软雅黑"/>
              </a:rPr>
              <a:t>四端前后端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61688" y="3511296"/>
            <a:ext cx="3456432" cy="17556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61688" y="3511296"/>
            <a:ext cx="54864" cy="1755648"/>
          </a:xfrm>
          <a:prstGeom prst="rect">
            <a:avLst/>
          </a:prstGeom>
          <a:solidFill>
            <a:srgbClr val="0E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36007" y="3657600"/>
            <a:ext cx="1828800" cy="396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0E6E8C"/>
                </a:solidFill>
                <a:latin typeface="微软雅黑"/>
                <a:ea typeface="微软雅黑"/>
                <a:cs typeface="微软雅黑"/>
              </a:rPr>
              <a:t>10/19-23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36007" y="4133087"/>
            <a:ext cx="2907791" cy="4452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1B2A33"/>
                </a:solidFill>
                <a:latin typeface="微软雅黑"/>
                <a:ea typeface="微软雅黑"/>
                <a:cs typeface="微软雅黑"/>
              </a:rPr>
              <a:t>测试阶段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36007" y="4663440"/>
            <a:ext cx="2907791" cy="396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4E606B"/>
                </a:solidFill>
                <a:latin typeface="微软雅黑"/>
                <a:ea typeface="微软雅黑"/>
                <a:cs typeface="微软雅黑"/>
              </a:rPr>
              <a:t>三层测试全通过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56447" y="3511296"/>
            <a:ext cx="3456432" cy="17556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56447" y="3511296"/>
            <a:ext cx="54864" cy="1755648"/>
          </a:xfrm>
          <a:prstGeom prst="rect">
            <a:avLst/>
          </a:prstGeom>
          <a:solidFill>
            <a:srgbClr val="D08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30767" y="3657600"/>
            <a:ext cx="1828800" cy="396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D08A2C"/>
                </a:solidFill>
                <a:latin typeface="微软雅黑"/>
                <a:ea typeface="微软雅黑"/>
                <a:cs typeface="微软雅黑"/>
              </a:rPr>
              <a:t>10/27-30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30767" y="4133087"/>
            <a:ext cx="2907791" cy="4452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1B2A33"/>
                </a:solidFill>
                <a:latin typeface="微软雅黑"/>
                <a:ea typeface="微软雅黑"/>
                <a:cs typeface="微软雅黑"/>
              </a:rPr>
              <a:t>答辩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30767" y="4663440"/>
            <a:ext cx="2907791" cy="396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4E606B"/>
                </a:solidFill>
                <a:latin typeface="微软雅黑"/>
                <a:ea typeface="微软雅黑"/>
                <a:cs typeface="微软雅黑"/>
              </a:rPr>
              <a:t>PPT + 视频 + 代码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5431536"/>
            <a:ext cx="1105783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4E606B"/>
                </a:solidFill>
                <a:latin typeface="微软雅黑"/>
                <a:ea typeface="微软雅黑"/>
                <a:cs typeface="微软雅黑"/>
              </a:rPr>
              <a:t>文档先行 · 编号统一（M1~M9 / UI-XXX-nn）· 评审后立即改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8229600" cy="396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0E6E8C"/>
                </a:solidFill>
                <a:latin typeface="微软雅黑"/>
                <a:ea typeface="微软雅黑"/>
                <a:cs typeface="微软雅黑"/>
              </a:rPr>
              <a:t>③ ① 需求分析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68096"/>
            <a:ext cx="1050919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1B2A33"/>
                </a:solidFill>
                <a:latin typeface="微软雅黑"/>
                <a:ea typeface="微软雅黑"/>
                <a:cs typeface="微软雅黑"/>
              </a:rPr>
              <a:t>需求矩阵：125 条需求，每条都能追到底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48695" y="6199632"/>
            <a:ext cx="548640" cy="396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4E606B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554480"/>
            <a:ext cx="2615184" cy="22128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645920"/>
            <a:ext cx="2103120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800" b="1" i="0">
                <a:solidFill>
                  <a:srgbClr val="0E6E8C"/>
                </a:solidFill>
                <a:latin typeface="微软雅黑"/>
                <a:ea typeface="微软雅黑"/>
                <a:cs typeface="微软雅黑"/>
              </a:rPr>
              <a:t>125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468880"/>
            <a:ext cx="2103120" cy="4353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1B2A33"/>
                </a:solidFill>
                <a:latin typeface="微软雅黑"/>
                <a:ea typeface="微软雅黑"/>
                <a:cs typeface="微软雅黑"/>
              </a:rPr>
              <a:t>条功能需求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926080"/>
            <a:ext cx="2103120" cy="747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4E606B"/>
                </a:solidFill>
                <a:latin typeface="微软雅黑"/>
                <a:ea typeface="微软雅黑"/>
                <a:cs typeface="微软雅黑"/>
              </a:rPr>
              <a:t>核心 101 · 选配 24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1554480"/>
            <a:ext cx="2615184" cy="22128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1879" y="1645920"/>
            <a:ext cx="2103120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800" b="1" i="0">
                <a:solidFill>
                  <a:srgbClr val="D08A2C"/>
                </a:solidFill>
                <a:latin typeface="微软雅黑"/>
                <a:ea typeface="微软雅黑"/>
                <a:cs typeface="微软雅黑"/>
              </a:rPr>
              <a:t>49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79" y="2468880"/>
            <a:ext cx="2103120" cy="4353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1B2A33"/>
                </a:solidFill>
                <a:latin typeface="微软雅黑"/>
                <a:ea typeface="微软雅黑"/>
                <a:cs typeface="微软雅黑"/>
              </a:rPr>
              <a:t>条 RTM 追踪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79" y="2926080"/>
            <a:ext cx="2103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4E606B"/>
                </a:solidFill>
                <a:latin typeface="微软雅黑"/>
                <a:ea typeface="微软雅黑"/>
                <a:cs typeface="微软雅黑"/>
              </a:rPr>
              <a:t>含界面号与图号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08192" y="1554480"/>
            <a:ext cx="2615184" cy="22128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82512" y="1645920"/>
            <a:ext cx="2103120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800" b="1" i="0">
                <a:solidFill>
                  <a:srgbClr val="0E6E8C"/>
                </a:solidFill>
                <a:latin typeface="微软雅黑"/>
                <a:ea typeface="微软雅黑"/>
                <a:cs typeface="微软雅黑"/>
              </a:rPr>
              <a:t>38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2512" y="2468880"/>
            <a:ext cx="2103120" cy="4353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1B2A33"/>
                </a:solidFill>
                <a:latin typeface="微软雅黑"/>
                <a:ea typeface="微软雅黑"/>
                <a:cs typeface="微软雅黑"/>
              </a:rPr>
              <a:t>个界面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2926080"/>
            <a:ext cx="2103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4E606B"/>
                </a:solidFill>
                <a:latin typeface="微软雅黑"/>
                <a:ea typeface="微软雅黑"/>
                <a:cs typeface="微软雅黑"/>
              </a:rPr>
              <a:t>核心 29 · 选配 9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78824" y="1554480"/>
            <a:ext cx="2743200" cy="22128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34855" y="1700784"/>
            <a:ext cx="2286000" cy="4353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E6E8C"/>
                </a:solidFill>
                <a:latin typeface="微软雅黑"/>
                <a:ea typeface="微软雅黑"/>
                <a:cs typeface="微软雅黑"/>
              </a:rPr>
              <a:t>四向追溯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34855" y="2286000"/>
            <a:ext cx="2340864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1B2A33"/>
                </a:solidFill>
                <a:latin typeface="微软雅黑"/>
                <a:ea typeface="微软雅黑"/>
                <a:cs typeface="微软雅黑"/>
              </a:rPr>
              <a:t>需求 → 界面 →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1B2A33"/>
                </a:solidFill>
                <a:latin typeface="微软雅黑"/>
                <a:ea typeface="微软雅黑"/>
                <a:cs typeface="微软雅黑"/>
              </a:rPr>
              <a:t>接口 → 测试用例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566928" y="3803904"/>
          <a:ext cx="11055095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005840"/>
                <a:gridCol w="6675120"/>
                <a:gridCol w="1911095"/>
              </a:tblGrid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8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角色</a:t>
                      </a:r>
                    </a:p>
                  </a:txBody>
                  <a:tcPr marL="91440" marR="54864" marT="18288" marB="18288" anchor="ctr">
                    <a:solidFill>
                      <a:srgbClr val="0E6E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界面</a:t>
                      </a:r>
                    </a:p>
                  </a:txBody>
                  <a:tcPr marL="91440" marR="54864" marT="18288" marB="18288" anchor="ctr">
                    <a:solidFill>
                      <a:srgbClr val="0E6E8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负责的功能</a:t>
                      </a:r>
                    </a:p>
                  </a:txBody>
                  <a:tcPr marL="91440" marR="54864" marT="18288" marB="18288" anchor="ctr">
                    <a:solidFill>
                      <a:srgbClr val="0E6E8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负责人</a:t>
                      </a:r>
                    </a:p>
                  </a:txBody>
                  <a:tcPr marL="91440" marR="54864" marT="18288" marB="18288" anchor="ctr">
                    <a:solidFill>
                      <a:srgbClr val="0E6E8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800" b="0" i="0">
                          <a:solidFill>
                            <a:srgbClr val="1B2A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老人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i="0">
                          <a:solidFill>
                            <a:srgbClr val="1B2A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13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i="0">
                          <a:solidFill>
                            <a:srgbClr val="1B2A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档案、指标、AI 问询、生活服务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i="0">
                          <a:solidFill>
                            <a:srgbClr val="1B2A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梁霁鸣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800" b="0" i="0">
                          <a:solidFill>
                            <a:srgbClr val="1B2A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家属</a:t>
                      </a:r>
                    </a:p>
                  </a:txBody>
                  <a:tcPr marL="91440" marR="54864" marT="18288" marB="18288" anchor="ctr"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i="0">
                          <a:solidFill>
                            <a:srgbClr val="1B2A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</a:t>
                      </a:r>
                    </a:p>
                  </a:txBody>
                  <a:tcPr marL="91440" marR="54864" marT="18288" marB="18288" anchor="ctr"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i="0">
                          <a:solidFill>
                            <a:srgbClr val="1B2A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健康查看、通知反馈、代申请</a:t>
                      </a:r>
                    </a:p>
                  </a:txBody>
                  <a:tcPr marL="91440" marR="54864" marT="18288" marB="18288" anchor="ctr"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i="0">
                          <a:solidFill>
                            <a:srgbClr val="1B2A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梁霁鸣</a:t>
                      </a:r>
                    </a:p>
                  </a:txBody>
                  <a:tcPr marL="91440" marR="54864" marT="18288" marB="18288" anchor="ctr">
                    <a:solidFill>
                      <a:srgbClr val="F2F6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800" b="0" i="0">
                          <a:solidFill>
                            <a:srgbClr val="1B2A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护工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i="0">
                          <a:solidFill>
                            <a:srgbClr val="1B2A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i="0">
                          <a:solidFill>
                            <a:srgbClr val="1B2A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在管老人、预警处理、任务台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i="0">
                          <a:solidFill>
                            <a:srgbClr val="1B2A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周彦龙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800" b="0" i="0">
                          <a:solidFill>
                            <a:srgbClr val="1B2A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管理员</a:t>
                      </a:r>
                    </a:p>
                  </a:txBody>
                  <a:tcPr marL="91440" marR="54864" marT="18288" marB="18288" anchor="ctr"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i="0">
                          <a:solidFill>
                            <a:srgbClr val="1B2A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</a:t>
                      </a:r>
                    </a:p>
                  </a:txBody>
                  <a:tcPr marL="91440" marR="54864" marT="18288" marB="18288" anchor="ctr"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i="0">
                          <a:solidFill>
                            <a:srgbClr val="1B2A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账号、阈值审核、配置、统计</a:t>
                      </a:r>
                    </a:p>
                  </a:txBody>
                  <a:tcPr marL="91440" marR="54864" marT="18288" marB="18288" anchor="ctr"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i="0">
                          <a:solidFill>
                            <a:srgbClr val="1B2A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周彦龙</a:t>
                      </a:r>
                    </a:p>
                  </a:txBody>
                  <a:tcPr marL="91440" marR="54864" marT="18288" marB="18288" anchor="ctr">
                    <a:solidFill>
                      <a:srgbClr val="F2F6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8229600" cy="396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0E6E8C"/>
                </a:solidFill>
                <a:latin typeface="微软雅黑"/>
                <a:ea typeface="微软雅黑"/>
                <a:cs typeface="微软雅黑"/>
              </a:rPr>
              <a:t>③ ② 原型设计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68096"/>
            <a:ext cx="1050919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1B2A33"/>
                </a:solidFill>
                <a:latin typeface="微软雅黑"/>
                <a:ea typeface="微软雅黑"/>
                <a:cs typeface="微软雅黑"/>
              </a:rPr>
              <a:t>38 个界面全部出图，四种状态都画了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48695" y="6199632"/>
            <a:ext cx="548640" cy="396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4E606B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572768"/>
            <a:ext cx="2304288" cy="42245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6" name="Picture 5" descr="_总览_38个界面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1744803"/>
            <a:ext cx="2084831" cy="3880457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2980944" y="1572768"/>
            <a:ext cx="8641080" cy="13167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8" name="Picture 7" descr="UI-ELDER-01_老人首页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1125" y="1664208"/>
            <a:ext cx="1177076" cy="11338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68112" y="1773936"/>
            <a:ext cx="5943600" cy="4743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0E6E8C"/>
                </a:solidFill>
                <a:latin typeface="微软雅黑"/>
                <a:ea typeface="微软雅黑"/>
                <a:cs typeface="微软雅黑"/>
              </a:rPr>
              <a:t>老人端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68112" y="2286000"/>
            <a:ext cx="5943600" cy="396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4E606B"/>
                </a:solidFill>
                <a:latin typeface="微软雅黑"/>
                <a:ea typeface="微软雅黑"/>
                <a:cs typeface="微软雅黑"/>
              </a:rPr>
              <a:t>字号 ≥18px、按钮 ≥48px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80944" y="2990088"/>
            <a:ext cx="8641080" cy="13167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12" name="Picture 11" descr="UI-CARE-01_护工工作台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4940" y="3081528"/>
            <a:ext cx="1209446" cy="11338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68112" y="3191256"/>
            <a:ext cx="5943600" cy="4743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0E6E8C"/>
                </a:solidFill>
                <a:latin typeface="微软雅黑"/>
                <a:ea typeface="微软雅黑"/>
                <a:cs typeface="微软雅黑"/>
              </a:rPr>
              <a:t>护工端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68112" y="3703320"/>
            <a:ext cx="5943600" cy="396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4E606B"/>
                </a:solidFill>
                <a:latin typeface="微软雅黑"/>
                <a:ea typeface="微软雅黑"/>
                <a:cs typeface="微软雅黑"/>
              </a:rPr>
              <a:t>异常优先，一屏看完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80944" y="4407408"/>
            <a:ext cx="8641080" cy="13167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16" name="Picture 15" descr="UI-ADMIN-06_统计报表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37718" y="4498848"/>
            <a:ext cx="863890" cy="113385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468112" y="4608576"/>
            <a:ext cx="5943600" cy="4743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0E6E8C"/>
                </a:solidFill>
                <a:latin typeface="微软雅黑"/>
                <a:ea typeface="微软雅黑"/>
                <a:cs typeface="微软雅黑"/>
              </a:rPr>
              <a:t>管理员端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68112" y="5120640"/>
            <a:ext cx="5943600" cy="396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4E606B"/>
                </a:solidFill>
                <a:latin typeface="微软雅黑"/>
                <a:ea typeface="微软雅黑"/>
                <a:cs typeface="微软雅黑"/>
              </a:rPr>
              <a:t>周期统计，一屏可见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5998464"/>
            <a:ext cx="9777679" cy="396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4E606B"/>
                </a:solidFill>
                <a:latin typeface="微软雅黑"/>
                <a:ea typeface="微软雅黑"/>
                <a:cs typeface="微软雅黑"/>
              </a:rPr>
              <a:t>每页都标了空数据、失败、无权限、会话过期四种状态。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8229600" cy="396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0E6E8C"/>
                </a:solidFill>
                <a:latin typeface="微软雅黑"/>
                <a:ea typeface="微软雅黑"/>
                <a:cs typeface="微软雅黑"/>
              </a:rPr>
              <a:t>③ ③ 数据库设计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68096"/>
            <a:ext cx="1050919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1B2A33"/>
                </a:solidFill>
                <a:latin typeface="微软雅黑"/>
                <a:ea typeface="微软雅黑"/>
                <a:cs typeface="微软雅黑"/>
              </a:rPr>
              <a:t>30 张表：15 张核心 + 15 张扩展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48695" y="6199632"/>
            <a:ext cx="548640" cy="396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4E606B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572768"/>
            <a:ext cx="6492240" cy="3931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6" name="Picture 5" descr="图4-1_表间关系图_核心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325" y="1682496"/>
            <a:ext cx="5737444" cy="371246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278624" y="1627632"/>
            <a:ext cx="4334256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1300"/>
              </a:spcAft>
            </a:pPr>
            <a:r>
              <a:rPr sz="1900" b="1" i="0">
                <a:solidFill>
                  <a:srgbClr val="0E6E8C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900" b="1" i="0">
                <a:solidFill>
                  <a:srgbClr val="1B2A33"/>
                </a:solidFill>
                <a:latin typeface="微软雅黑"/>
                <a:ea typeface="微软雅黑"/>
                <a:cs typeface="微软雅黑"/>
              </a:rPr>
              <a:t>三范式</a:t>
            </a:r>
            <a:r>
              <a:rPr sz="1900" b="0" i="0">
                <a:solidFill>
                  <a:srgbClr val="1B2A33"/>
                </a:solidFill>
                <a:latin typeface="微软雅黑"/>
                <a:ea typeface="微软雅黑"/>
                <a:cs typeface="微软雅黑"/>
              </a:rPr>
              <a:t>：档案、指标、预警各自成表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300"/>
              </a:spcAft>
            </a:pPr>
            <a:r>
              <a:rPr sz="1900" b="1" i="0">
                <a:solidFill>
                  <a:srgbClr val="0E6E8C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900" b="1" i="0">
                <a:solidFill>
                  <a:srgbClr val="1B2A33"/>
                </a:solidFill>
                <a:latin typeface="微软雅黑"/>
                <a:ea typeface="微软雅黑"/>
                <a:cs typeface="微软雅黑"/>
              </a:rPr>
              <a:t>软删除</a:t>
            </a:r>
            <a:r>
              <a:rPr sz="1900" b="0" i="0">
                <a:solidFill>
                  <a:srgbClr val="1B2A33"/>
                </a:solidFill>
                <a:latin typeface="微软雅黑"/>
                <a:ea typeface="微软雅黑"/>
                <a:cs typeface="微软雅黑"/>
              </a:rPr>
              <a:t>：删除后预警证据仍保留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300"/>
              </a:spcAft>
            </a:pPr>
            <a:r>
              <a:rPr sz="1900" b="1" i="0">
                <a:solidFill>
                  <a:srgbClr val="0E6E8C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900" b="1" i="0">
                <a:solidFill>
                  <a:srgbClr val="1B2A33"/>
                </a:solidFill>
                <a:latin typeface="微软雅黑"/>
                <a:ea typeface="微软雅黑"/>
                <a:cs typeface="微软雅黑"/>
              </a:rPr>
              <a:t>阈值配置化</a:t>
            </a:r>
            <a:r>
              <a:rPr sz="1900" b="0" i="0">
                <a:solidFill>
                  <a:srgbClr val="1B2A33"/>
                </a:solidFill>
                <a:latin typeface="微软雅黑"/>
                <a:ea typeface="微软雅黑"/>
                <a:cs typeface="微软雅黑"/>
              </a:rPr>
              <a:t>：存在 sys_config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300"/>
              </a:spcAft>
            </a:pPr>
            <a:r>
              <a:rPr sz="1900" b="1" i="0">
                <a:solidFill>
                  <a:srgbClr val="0E6E8C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900" b="1" i="0">
                <a:solidFill>
                  <a:srgbClr val="1B2A33"/>
                </a:solidFill>
                <a:latin typeface="微软雅黑"/>
                <a:ea typeface="微软雅黑"/>
                <a:cs typeface="微软雅黑"/>
              </a:rPr>
              <a:t>增量迁移</a:t>
            </a:r>
            <a:r>
              <a:rPr sz="1900" b="0" i="0">
                <a:solidFill>
                  <a:srgbClr val="1B2A33"/>
                </a:solidFill>
                <a:latin typeface="微软雅黑"/>
                <a:ea typeface="微软雅黑"/>
                <a:cs typeface="微软雅黑"/>
              </a:rPr>
              <a:t>：只建缺的表，先备份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300"/>
              </a:spcAft>
            </a:pPr>
            <a:r>
              <a:rPr sz="1900" b="1" i="0">
                <a:solidFill>
                  <a:srgbClr val="0E6E8C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900" b="1" i="0">
                <a:solidFill>
                  <a:srgbClr val="1B2A33"/>
                </a:solidFill>
                <a:latin typeface="微软雅黑"/>
                <a:ea typeface="微软雅黑"/>
                <a:cs typeface="微软雅黑"/>
              </a:rPr>
              <a:t>行锁</a:t>
            </a:r>
            <a:r>
              <a:rPr sz="1900" b="0" i="0">
                <a:solidFill>
                  <a:srgbClr val="1B2A33"/>
                </a:solidFill>
                <a:latin typeface="微软雅黑"/>
                <a:ea typeface="微软雅黑"/>
                <a:cs typeface="微软雅黑"/>
              </a:rPr>
              <a:t>：避免旧快照读到已撤销授权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5760720"/>
            <a:ext cx="11057839" cy="396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4E606B"/>
                </a:solidFill>
                <a:latin typeface="微软雅黑"/>
                <a:ea typeface="微软雅黑"/>
                <a:cs typeface="微软雅黑"/>
              </a:rPr>
              <a:t>迁移逐行比对：原有 15 张表 34 行数据全部一致。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8229600" cy="396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0E6E8C"/>
                </a:solidFill>
                <a:latin typeface="微软雅黑"/>
                <a:ea typeface="微软雅黑"/>
                <a:cs typeface="微软雅黑"/>
              </a:rPr>
              <a:t>③ ④ 概要设计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68096"/>
            <a:ext cx="1050919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1B2A33"/>
                </a:solidFill>
                <a:latin typeface="微软雅黑"/>
                <a:ea typeface="微软雅黑"/>
                <a:cs typeface="微软雅黑"/>
              </a:rPr>
              <a:t>系统结构：9 个业务模块 + 6 个技术模块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48695" y="6199632"/>
            <a:ext cx="548640" cy="396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4E606B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572768"/>
            <a:ext cx="11057839" cy="26151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6" name="Picture 5" descr="图2-1_模块分解图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7978" y="1664208"/>
            <a:ext cx="7935738" cy="243230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4334256"/>
            <a:ext cx="3529584" cy="4353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E6E8C"/>
                </a:solidFill>
                <a:latin typeface="微软雅黑"/>
                <a:ea typeface="微软雅黑"/>
                <a:cs typeface="微软雅黑"/>
              </a:rPr>
              <a:t>业务模块 M1~M9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4828032"/>
            <a:ext cx="3529584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1B2A33"/>
                </a:solidFill>
                <a:latin typeface="微软雅黑"/>
                <a:ea typeface="微软雅黑"/>
                <a:cs typeface="微软雅黑"/>
              </a:rPr>
              <a:t>认证、档案、指标、AI、预警、家属、护工、后台、配置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6824" y="4334256"/>
            <a:ext cx="3529584" cy="4353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D08A2C"/>
                </a:solidFill>
                <a:latin typeface="微软雅黑"/>
                <a:ea typeface="微软雅黑"/>
                <a:cs typeface="微软雅黑"/>
              </a:rPr>
              <a:t>技术模块 T1~T6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06824" y="4828032"/>
            <a:ext cx="3529584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1B2A33"/>
                </a:solidFill>
                <a:latin typeface="微软雅黑"/>
                <a:ea typeface="微软雅黑"/>
                <a:cs typeface="微软雅黑"/>
              </a:rPr>
              <a:t>数据访问、鉴权上下文、统一响应、日志、配置缓存、存储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9" y="4334256"/>
            <a:ext cx="3529584" cy="4353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E6E8C"/>
                </a:solidFill>
                <a:latin typeface="微软雅黑"/>
                <a:ea typeface="微软雅黑"/>
                <a:cs typeface="微软雅黑"/>
              </a:rPr>
              <a:t>接口规模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19" y="4828032"/>
            <a:ext cx="3529584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1B2A33"/>
                </a:solidFill>
                <a:latin typeface="微软雅黑"/>
                <a:ea typeface="微软雅黑"/>
                <a:cs typeface="微软雅黑"/>
              </a:rPr>
              <a:t>对外 45 个 + 模块间 8 个，实际 62 个方法路径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8229600" cy="396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0E6E8C"/>
                </a:solidFill>
                <a:latin typeface="微软雅黑"/>
                <a:ea typeface="微软雅黑"/>
                <a:cs typeface="微软雅黑"/>
              </a:rPr>
              <a:t>③ ④ 概要设计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68096"/>
            <a:ext cx="1050919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1B2A33"/>
                </a:solidFill>
                <a:latin typeface="微软雅黑"/>
                <a:ea typeface="微软雅黑"/>
                <a:cs typeface="微软雅黑"/>
              </a:rPr>
              <a:t>高内聚低耦合：分层 + 单向调用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48695" y="6199632"/>
            <a:ext cx="548640" cy="396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4E606B"/>
                </a:solidFill>
                <a:latin typeface="微软雅黑"/>
                <a:ea typeface="微软雅黑"/>
                <a:cs typeface="微软雅黑"/>
              </a:rPr>
              <a:t>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572768"/>
            <a:ext cx="6126480" cy="39136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6" name="Picture 5" descr="图2-2_分层架构图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094144"/>
            <a:ext cx="5833872" cy="287087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967728" y="1627632"/>
            <a:ext cx="466344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1600"/>
              </a:spcAft>
            </a:pPr>
            <a:r>
              <a:rPr sz="1900" b="1" i="0">
                <a:solidFill>
                  <a:srgbClr val="0E6E8C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900" b="1" i="0">
                <a:solidFill>
                  <a:srgbClr val="1B2A33"/>
                </a:solidFill>
                <a:latin typeface="微软雅黑"/>
                <a:ea typeface="微软雅黑"/>
                <a:cs typeface="微软雅黑"/>
              </a:rPr>
              <a:t>接口层</a:t>
            </a:r>
            <a:r>
              <a:rPr sz="1900" b="0" i="0">
                <a:solidFill>
                  <a:srgbClr val="1B2A33"/>
                </a:solidFill>
                <a:latin typeface="微软雅黑"/>
                <a:ea typeface="微软雅黑"/>
                <a:cs typeface="微软雅黑"/>
              </a:rPr>
              <a:t>只做校验、鉴权、统一响应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600"/>
              </a:spcAft>
            </a:pPr>
            <a:r>
              <a:rPr sz="1900" b="1" i="0">
                <a:solidFill>
                  <a:srgbClr val="0E6E8C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900" b="1" i="0">
                <a:solidFill>
                  <a:srgbClr val="1B2A33"/>
                </a:solidFill>
                <a:latin typeface="微软雅黑"/>
                <a:ea typeface="微软雅黑"/>
                <a:cs typeface="微软雅黑"/>
              </a:rPr>
              <a:t>业务模块</a:t>
            </a:r>
            <a:r>
              <a:rPr sz="1900" b="0" i="0">
                <a:solidFill>
                  <a:srgbClr val="1B2A33"/>
                </a:solidFill>
                <a:latin typeface="微软雅黑"/>
                <a:ea typeface="微软雅黑"/>
                <a:cs typeface="微软雅黑"/>
              </a:rPr>
              <a:t>只调技术模块，不自己判权限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600"/>
              </a:spcAft>
            </a:pPr>
            <a:r>
              <a:rPr sz="1900" b="1" i="0">
                <a:solidFill>
                  <a:srgbClr val="0E6E8C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900" b="1" i="0">
                <a:solidFill>
                  <a:srgbClr val="1B2A33"/>
                </a:solidFill>
                <a:latin typeface="微软雅黑"/>
                <a:ea typeface="微软雅黑"/>
                <a:cs typeface="微软雅黑"/>
              </a:rPr>
              <a:t>跨模块</a:t>
            </a:r>
            <a:r>
              <a:rPr sz="1900" b="0" i="0">
                <a:solidFill>
                  <a:srgbClr val="1B2A33"/>
                </a:solidFill>
                <a:latin typeface="微软雅黑"/>
                <a:ea typeface="微软雅黑"/>
                <a:cs typeface="微软雅黑"/>
              </a:rPr>
              <a:t>走 service 函数，不直读别人的表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600"/>
              </a:spcAft>
            </a:pPr>
            <a:r>
              <a:rPr sz="1900" b="1" i="0">
                <a:solidFill>
                  <a:srgbClr val="0E6E8C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900" b="1" i="0">
                <a:solidFill>
                  <a:srgbClr val="1B2A33"/>
                </a:solidFill>
                <a:latin typeface="微软雅黑"/>
                <a:ea typeface="微软雅黑"/>
                <a:cs typeface="微软雅黑"/>
              </a:rPr>
              <a:t>技术模块</a:t>
            </a:r>
            <a:r>
              <a:rPr sz="1900" b="0" i="0">
                <a:solidFill>
                  <a:srgbClr val="1B2A33"/>
                </a:solidFill>
                <a:latin typeface="微软雅黑"/>
                <a:ea typeface="微软雅黑"/>
                <a:cs typeface="微软雅黑"/>
              </a:rPr>
              <a:t>被 9 个模块复用，换库只改它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5760720"/>
            <a:ext cx="11057839" cy="396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4E606B"/>
                </a:solidFill>
                <a:latin typeface="微软雅黑"/>
                <a:ea typeface="微软雅黑"/>
                <a:cs typeface="微软雅黑"/>
              </a:rPr>
              <a:t>判断标准很简单：改一个模块，要动几个文件？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8229600" cy="396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0E6E8C"/>
                </a:solidFill>
                <a:latin typeface="微软雅黑"/>
                <a:ea typeface="微软雅黑"/>
                <a:cs typeface="微软雅黑"/>
              </a:rPr>
              <a:t>③ ④ 概要设计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68096"/>
            <a:ext cx="1050919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1B2A33"/>
                </a:solidFill>
                <a:latin typeface="微软雅黑"/>
                <a:ea typeface="微软雅黑"/>
                <a:cs typeface="微软雅黑"/>
              </a:rPr>
              <a:t>重要算法一：阈值判定与预警分发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48695" y="6199632"/>
            <a:ext cx="548640" cy="396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4E606B"/>
                </a:solidFill>
                <a:latin typeface="微软雅黑"/>
                <a:ea typeface="微软雅黑"/>
                <a:cs typeface="微软雅黑"/>
              </a:rPr>
              <a:t>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572768"/>
            <a:ext cx="3456432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19072"/>
            <a:ext cx="2944368" cy="4353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E6E8C"/>
                </a:solidFill>
                <a:latin typeface="微软雅黑"/>
                <a:ea typeface="微软雅黑"/>
                <a:cs typeface="微软雅黑"/>
              </a:rPr>
              <a:t>① 取阈值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12848"/>
            <a:ext cx="2944368" cy="7292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1B2A33"/>
                </a:solidFill>
                <a:latin typeface="微软雅黑"/>
                <a:ea typeface="微软雅黑"/>
                <a:cs typeface="微软雅黑"/>
              </a:rPr>
              <a:t>个体阈值优先，否则用默认值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61688" y="1572768"/>
            <a:ext cx="3456432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719072"/>
            <a:ext cx="2944368" cy="4353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E6E8C"/>
                </a:solidFill>
                <a:latin typeface="微软雅黑"/>
                <a:ea typeface="微软雅黑"/>
                <a:cs typeface="微软雅黑"/>
              </a:rPr>
              <a:t>② 判等级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2212848"/>
            <a:ext cx="2944368" cy="3874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1B2A33"/>
                </a:solidFill>
                <a:latin typeface="微软雅黑"/>
                <a:ea typeface="微软雅黑"/>
                <a:cs typeface="微软雅黑"/>
              </a:rPr>
              <a:t>四项指标分别判定取最高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56447" y="1572768"/>
            <a:ext cx="3456432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9" y="1719072"/>
            <a:ext cx="2944368" cy="4353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E6E8C"/>
                </a:solidFill>
                <a:latin typeface="微软雅黑"/>
                <a:ea typeface="微软雅黑"/>
                <a:cs typeface="微软雅黑"/>
              </a:rPr>
              <a:t>③ 落库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9" y="2212848"/>
            <a:ext cx="2944368" cy="3874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1B2A33"/>
                </a:solidFill>
                <a:latin typeface="微软雅黑"/>
                <a:ea typeface="微软雅黑"/>
                <a:cs typeface="微软雅黑"/>
              </a:rPr>
              <a:t>预警、通知同事务写完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145536"/>
            <a:ext cx="3456432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291840"/>
            <a:ext cx="2944368" cy="4353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D08A2C"/>
                </a:solidFill>
                <a:latin typeface="微软雅黑"/>
                <a:ea typeface="微软雅黑"/>
                <a:cs typeface="微软雅黑"/>
              </a:rPr>
              <a:t>④ 写摘要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785615"/>
            <a:ext cx="2944368" cy="3874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1B2A33"/>
                </a:solidFill>
                <a:latin typeface="微软雅黑"/>
                <a:ea typeface="微软雅黑"/>
                <a:cs typeface="微软雅黑"/>
              </a:rPr>
              <a:t>AI 异步写解读，超时 8 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61688" y="3145536"/>
            <a:ext cx="3456432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3291840"/>
            <a:ext cx="2944368" cy="4353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D08A2C"/>
                </a:solidFill>
                <a:latin typeface="微软雅黑"/>
                <a:ea typeface="微软雅黑"/>
                <a:cs typeface="微软雅黑"/>
              </a:rPr>
              <a:t>⑤ 发通知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3785615"/>
            <a:ext cx="2944368" cy="3874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1B2A33"/>
                </a:solidFill>
                <a:latin typeface="微软雅黑"/>
                <a:ea typeface="微软雅黑"/>
                <a:cs typeface="微软雅黑"/>
              </a:rPr>
              <a:t>按授权关系分发，已读独立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56447" y="3145536"/>
            <a:ext cx="3456432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9" y="3291840"/>
            <a:ext cx="2944368" cy="4353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D08A2C"/>
                </a:solidFill>
                <a:latin typeface="微软雅黑"/>
                <a:ea typeface="微软雅黑"/>
                <a:cs typeface="微软雅黑"/>
              </a:rPr>
              <a:t>⑥ 留痕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79" y="3785615"/>
            <a:ext cx="2944368" cy="3874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1B2A33"/>
                </a:solidFill>
                <a:latin typeface="微软雅黑"/>
                <a:ea typeface="微软雅黑"/>
                <a:cs typeface="微软雅黑"/>
              </a:rPr>
              <a:t>处理人、时间、说明全留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4791456"/>
            <a:ext cx="11057839" cy="1042415"/>
          </a:xfrm>
          <a:prstGeom prst="roundRect">
            <a:avLst>
              <a:gd name="adj" fmla="val 5000"/>
            </a:avLst>
          </a:prstGeom>
          <a:solidFill>
            <a:srgbClr val="FBF1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7" y="4919472"/>
            <a:ext cx="10509199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1B2A33"/>
                </a:solidFill>
                <a:latin typeface="微软雅黑"/>
                <a:ea typeface="微软雅黑"/>
                <a:cs typeface="微软雅黑"/>
              </a:rPr>
              <a:t>判定这一步从头到尾没有 AI 参与：阈值是配置、规则是代码、写库是事务。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8229600" cy="396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0E6E8C"/>
                </a:solidFill>
                <a:latin typeface="微软雅黑"/>
                <a:ea typeface="微软雅黑"/>
                <a:cs typeface="微软雅黑"/>
              </a:rPr>
              <a:t>③ ④ 概要设计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68096"/>
            <a:ext cx="1050919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1B2A33"/>
                </a:solidFill>
                <a:latin typeface="微软雅黑"/>
                <a:ea typeface="微软雅黑"/>
                <a:cs typeface="微软雅黑"/>
              </a:rPr>
              <a:t>重要算法二：AI 咨询的路由与检索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48695" y="6199632"/>
            <a:ext cx="548640" cy="396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4E606B"/>
                </a:solidFill>
                <a:latin typeface="微软雅黑"/>
                <a:ea typeface="微软雅黑"/>
                <a:cs typeface="微软雅黑"/>
              </a:rPr>
              <a:t>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572768"/>
            <a:ext cx="6492240" cy="10241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00784"/>
            <a:ext cx="4206240" cy="4353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1B2A33"/>
                </a:solidFill>
                <a:latin typeface="微软雅黑"/>
                <a:ea typeface="微软雅黑"/>
                <a:cs typeface="微软雅黑"/>
              </a:rPr>
              <a:t>输入与合规检查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57984"/>
            <a:ext cx="5943600" cy="396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4E606B"/>
                </a:solidFill>
                <a:latin typeface="微软雅黑"/>
                <a:ea typeface="微软雅黑"/>
                <a:cs typeface="微软雅黑"/>
              </a:rPr>
              <a:t>长度、配额、隐私授权；紧急词直接升级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706624"/>
            <a:ext cx="6492240" cy="10241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834640"/>
            <a:ext cx="4206240" cy="4353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1B2A33"/>
                </a:solidFill>
                <a:latin typeface="微软雅黑"/>
                <a:ea typeface="微软雅黑"/>
                <a:cs typeface="微软雅黑"/>
              </a:rPr>
              <a:t>意图识别路由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291840"/>
            <a:ext cx="5943600" cy="396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4E606B"/>
                </a:solidFill>
                <a:latin typeface="微软雅黑"/>
                <a:ea typeface="微软雅黑"/>
                <a:cs typeface="微软雅黑"/>
              </a:rPr>
              <a:t>四类问题走四条不同路径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840480"/>
            <a:ext cx="6492240" cy="10241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968496"/>
            <a:ext cx="4206240" cy="4353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1B2A33"/>
                </a:solidFill>
                <a:latin typeface="微软雅黑"/>
                <a:ea typeface="微软雅黑"/>
                <a:cs typeface="微软雅黑"/>
              </a:rPr>
              <a:t>检索增强 RAG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425696"/>
            <a:ext cx="5943600" cy="396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4E606B"/>
                </a:solidFill>
                <a:latin typeface="微软雅黑"/>
                <a:ea typeface="微软雅黑"/>
                <a:cs typeface="微软雅黑"/>
              </a:rPr>
              <a:t>知识库分块，取 Top-K 当上下文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974336"/>
            <a:ext cx="6492240" cy="10241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5102352"/>
            <a:ext cx="4206240" cy="4353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1B2A33"/>
                </a:solidFill>
                <a:latin typeface="微软雅黑"/>
                <a:ea typeface="微软雅黑"/>
                <a:cs typeface="微软雅黑"/>
              </a:rPr>
              <a:t>输出过滤与降级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559552"/>
            <a:ext cx="5943600" cy="396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4E606B"/>
                </a:solidFill>
                <a:latin typeface="微软雅黑"/>
                <a:ea typeface="微软雅黑"/>
                <a:cs typeface="微软雅黑"/>
              </a:rPr>
              <a:t>过滤诊断与调药；模型不可用返回 3001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96912" y="1572768"/>
            <a:ext cx="4306824" cy="4297680"/>
          </a:xfrm>
          <a:prstGeom prst="roundRect">
            <a:avLst>
              <a:gd name="adj" fmla="val 5000"/>
            </a:avLst>
          </a:prstGeom>
          <a:solidFill>
            <a:srgbClr val="0F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52944" y="1755648"/>
            <a:ext cx="3840480" cy="4743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AI 的三条红线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52944" y="2267712"/>
            <a:ext cx="3840480" cy="396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9EC3D4"/>
                </a:solidFill>
                <a:latin typeface="微软雅黑"/>
                <a:ea typeface="微软雅黑"/>
                <a:cs typeface="微软雅黑"/>
              </a:rPr>
              <a:t>写进设计，不靠自觉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52944" y="2798064"/>
            <a:ext cx="3803904" cy="27432"/>
          </a:xfrm>
          <a:prstGeom prst="rect">
            <a:avLst/>
          </a:prstGeom>
          <a:solidFill>
            <a:srgbClr val="3A5C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52944" y="3017520"/>
            <a:ext cx="3803904" cy="4743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D08A2C"/>
                </a:solidFill>
                <a:latin typeface="微软雅黑"/>
                <a:ea typeface="微软雅黑"/>
                <a:cs typeface="微软雅黑"/>
              </a:rPr>
              <a:t>不执行 SQL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52944" y="3803904"/>
            <a:ext cx="3803904" cy="27432"/>
          </a:xfrm>
          <a:prstGeom prst="rect">
            <a:avLst/>
          </a:prstGeom>
          <a:solidFill>
            <a:srgbClr val="3A5C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52944" y="4023360"/>
            <a:ext cx="3803904" cy="4743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D08A2C"/>
                </a:solidFill>
                <a:latin typeface="微软雅黑"/>
                <a:ea typeface="微软雅黑"/>
                <a:cs typeface="微软雅黑"/>
              </a:rPr>
              <a:t>不判断权限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52944" y="4809744"/>
            <a:ext cx="3803904" cy="27432"/>
          </a:xfrm>
          <a:prstGeom prst="rect">
            <a:avLst/>
          </a:prstGeom>
          <a:solidFill>
            <a:srgbClr val="3A5C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52944" y="5029200"/>
            <a:ext cx="3803904" cy="4743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D08A2C"/>
                </a:solidFill>
                <a:latin typeface="微软雅黑"/>
                <a:ea typeface="微软雅黑"/>
                <a:cs typeface="微软雅黑"/>
              </a:rPr>
              <a:t>不写业务库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8229600" cy="396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0E6E8C"/>
                </a:solidFill>
                <a:latin typeface="微软雅黑"/>
                <a:ea typeface="微软雅黑"/>
                <a:cs typeface="微软雅黑"/>
              </a:rPr>
              <a:t>③ ⑤ 编码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68096"/>
            <a:ext cx="1050919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1B2A33"/>
                </a:solidFill>
                <a:latin typeface="微软雅黑"/>
                <a:ea typeface="微软雅黑"/>
                <a:cs typeface="微软雅黑"/>
              </a:rPr>
              <a:t>编码：1.1 万行，统一约定，功能覆盖设计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48695" y="6199632"/>
            <a:ext cx="548640" cy="396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4E606B"/>
                </a:solidFill>
                <a:latin typeface="微软雅黑"/>
                <a:ea typeface="微软雅黑"/>
                <a:cs typeface="微软雅黑"/>
              </a:rPr>
              <a:t>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554480"/>
            <a:ext cx="2615184" cy="22128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645920"/>
            <a:ext cx="2103120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400" b="1" i="0">
                <a:solidFill>
                  <a:srgbClr val="0E6E8C"/>
                </a:solidFill>
                <a:latin typeface="微软雅黑"/>
                <a:ea typeface="微软雅黑"/>
                <a:cs typeface="微软雅黑"/>
              </a:rPr>
              <a:t>10,934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468880"/>
            <a:ext cx="2103120" cy="4353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1B2A33"/>
                </a:solidFill>
                <a:latin typeface="微软雅黑"/>
                <a:ea typeface="微软雅黑"/>
                <a:cs typeface="微软雅黑"/>
              </a:rPr>
              <a:t>行生产代码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926080"/>
            <a:ext cx="2103120" cy="747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4E606B"/>
                </a:solidFill>
                <a:latin typeface="微软雅黑"/>
                <a:ea typeface="微软雅黑"/>
                <a:cs typeface="微软雅黑"/>
              </a:rPr>
              <a:t>后端 4792 · 前端 4350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1554480"/>
            <a:ext cx="2615184" cy="22128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1879" y="1645920"/>
            <a:ext cx="2103120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800" b="1" i="0">
                <a:solidFill>
                  <a:srgbClr val="D08A2C"/>
                </a:solidFill>
                <a:latin typeface="微软雅黑"/>
                <a:ea typeface="微软雅黑"/>
                <a:cs typeface="微软雅黑"/>
              </a:rPr>
              <a:t>119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79" y="2468880"/>
            <a:ext cx="2103120" cy="4353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1B2A33"/>
                </a:solidFill>
                <a:latin typeface="微软雅黑"/>
                <a:ea typeface="微软雅黑"/>
                <a:cs typeface="微软雅黑"/>
              </a:rPr>
              <a:t>个源文件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79" y="2926080"/>
            <a:ext cx="2103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4E606B"/>
                </a:solidFill>
                <a:latin typeface="微软雅黑"/>
                <a:ea typeface="微软雅黑"/>
                <a:cs typeface="微软雅黑"/>
              </a:rPr>
              <a:t>后端 44 · 前端 75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08192" y="1554480"/>
            <a:ext cx="2615184" cy="22128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82512" y="1645920"/>
            <a:ext cx="2103120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800" b="1" i="0">
                <a:solidFill>
                  <a:srgbClr val="0E6E8C"/>
                </a:solidFill>
                <a:latin typeface="微软雅黑"/>
                <a:ea typeface="微软雅黑"/>
                <a:cs typeface="微软雅黑"/>
              </a:rPr>
              <a:t>38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2512" y="2468880"/>
            <a:ext cx="2103120" cy="4353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1B2A33"/>
                </a:solidFill>
                <a:latin typeface="微软雅黑"/>
                <a:ea typeface="微软雅黑"/>
                <a:cs typeface="微软雅黑"/>
              </a:rPr>
              <a:t>个界面全实现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2926080"/>
            <a:ext cx="2103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4E606B"/>
                </a:solidFill>
                <a:latin typeface="微软雅黑"/>
                <a:ea typeface="微软雅黑"/>
                <a:cs typeface="微软雅黑"/>
              </a:rPr>
              <a:t>核心 29 · 选配 9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78824" y="1554480"/>
            <a:ext cx="2743200" cy="22128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53144" y="1645920"/>
            <a:ext cx="2231136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800" b="1" i="0">
                <a:solidFill>
                  <a:srgbClr val="D08A2C"/>
                </a:solidFill>
                <a:latin typeface="微软雅黑"/>
                <a:ea typeface="微软雅黑"/>
                <a:cs typeface="微软雅黑"/>
              </a:rPr>
              <a:t>62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53144" y="2468880"/>
            <a:ext cx="2231136" cy="4353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1B2A33"/>
                </a:solidFill>
                <a:latin typeface="微软雅黑"/>
                <a:ea typeface="微软雅黑"/>
                <a:cs typeface="微软雅黑"/>
              </a:rPr>
              <a:t>个接口路径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53144" y="2926080"/>
            <a:ext cx="223113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4E606B"/>
                </a:solidFill>
                <a:latin typeface="微软雅黑"/>
                <a:ea typeface="微软雅黑"/>
                <a:cs typeface="微软雅黑"/>
              </a:rPr>
              <a:t>契约 45 · v2 扩展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3785615"/>
            <a:ext cx="9777679" cy="24841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0E6E8C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800" b="1" i="0">
                <a:solidFill>
                  <a:srgbClr val="1B2A33"/>
                </a:solidFill>
                <a:latin typeface="微软雅黑"/>
                <a:ea typeface="微软雅黑"/>
                <a:cs typeface="微软雅黑"/>
              </a:rPr>
              <a:t>统一响应</a:t>
            </a:r>
            <a:r>
              <a:rPr sz="1800" b="0" i="0">
                <a:solidFill>
                  <a:srgbClr val="1B2A33"/>
                </a:solidFill>
                <a:latin typeface="微软雅黑"/>
                <a:ea typeface="微软雅黑"/>
                <a:cs typeface="微软雅黑"/>
              </a:rPr>
              <a:t>：所有接口返回同一种结构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0E6E8C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800" b="1" i="0">
                <a:solidFill>
                  <a:srgbClr val="1B2A33"/>
                </a:solidFill>
                <a:latin typeface="微软雅黑"/>
                <a:ea typeface="微软雅黑"/>
                <a:cs typeface="微软雅黑"/>
              </a:rPr>
              <a:t>强校验</a:t>
            </a:r>
            <a:r>
              <a:rPr sz="1800" b="0" i="0">
                <a:solidFill>
                  <a:srgbClr val="1B2A33"/>
                </a:solidFill>
                <a:latin typeface="微软雅黑"/>
                <a:ea typeface="微软雅黑"/>
                <a:cs typeface="微软雅黑"/>
              </a:rPr>
              <a:t>：Pydantic 约束类型与范围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0E6E8C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800" b="1" i="0">
                <a:solidFill>
                  <a:srgbClr val="1B2A33"/>
                </a:solidFill>
                <a:latin typeface="微软雅黑"/>
                <a:ea typeface="微软雅黑"/>
                <a:cs typeface="微软雅黑"/>
              </a:rPr>
              <a:t>零手写 SQL</a:t>
            </a:r>
            <a:r>
              <a:rPr sz="1800" b="0" i="0">
                <a:solidFill>
                  <a:srgbClr val="1B2A33"/>
                </a:solidFill>
                <a:latin typeface="微软雅黑"/>
                <a:ea typeface="微软雅黑"/>
                <a:cs typeface="微软雅黑"/>
              </a:rPr>
              <a:t>：查询走 ORM 与参数化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0E6E8C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800" b="1" i="0">
                <a:solidFill>
                  <a:srgbClr val="1B2A33"/>
                </a:solidFill>
                <a:latin typeface="微软雅黑"/>
                <a:ea typeface="微软雅黑"/>
                <a:cs typeface="微软雅黑"/>
              </a:rPr>
              <a:t>前端不裸写请求</a:t>
            </a:r>
            <a:r>
              <a:rPr sz="1800" b="0" i="0">
                <a:solidFill>
                  <a:srgbClr val="1B2A33"/>
                </a:solidFill>
                <a:latin typeface="微软雅黑"/>
                <a:ea typeface="微软雅黑"/>
                <a:cs typeface="微软雅黑"/>
              </a:rPr>
              <a:t>：只调 src/api/ 的函数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0E6E8C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800" b="1" i="0">
                <a:solidFill>
                  <a:srgbClr val="1B2A33"/>
                </a:solidFill>
                <a:latin typeface="微软雅黑"/>
                <a:ea typeface="微软雅黑"/>
                <a:cs typeface="微软雅黑"/>
              </a:rPr>
              <a:t>合规写死</a:t>
            </a:r>
            <a:r>
              <a:rPr sz="1800" b="0" i="0">
                <a:solidFill>
                  <a:srgbClr val="1B2A33"/>
                </a:solidFill>
                <a:latin typeface="微软雅黑"/>
                <a:ea typeface="微软雅黑"/>
                <a:cs typeface="微软雅黑"/>
              </a:rPr>
              <a:t>：免责声明是全局组件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8229600" cy="396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0E6E8C"/>
                </a:solidFill>
                <a:latin typeface="微软雅黑"/>
                <a:ea typeface="微软雅黑"/>
                <a:cs typeface="微软雅黑"/>
              </a:rPr>
              <a:t>③ ⑤ 编码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68096"/>
            <a:ext cx="1050919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1B2A33"/>
                </a:solidFill>
                <a:latin typeface="微软雅黑"/>
                <a:ea typeface="微软雅黑"/>
                <a:cs typeface="微软雅黑"/>
              </a:rPr>
              <a:t>三个人并行不打架：靠文件所有权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48695" y="6199632"/>
            <a:ext cx="548640" cy="396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4E606B"/>
                </a:solidFill>
                <a:latin typeface="微软雅黑"/>
                <a:ea typeface="微软雅黑"/>
                <a:cs typeface="微软雅黑"/>
              </a:rPr>
              <a:t>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591056"/>
            <a:ext cx="3584448" cy="1920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1792224"/>
            <a:ext cx="3145536" cy="4743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0E6E8C"/>
                </a:solidFill>
                <a:latin typeface="微软雅黑"/>
                <a:ea typeface="微软雅黑"/>
                <a:cs typeface="微软雅黑"/>
              </a:rPr>
              <a:t>文件所有权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" y="2340864"/>
            <a:ext cx="3145536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1B2A33"/>
                </a:solidFill>
                <a:latin typeface="微软雅黑"/>
                <a:ea typeface="微软雅黑"/>
                <a:cs typeface="微软雅黑"/>
              </a:rPr>
              <a:t>谁的目录谁改，别人的一眼别碰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06824" y="1591056"/>
            <a:ext cx="3584448" cy="1920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9432" y="1792224"/>
            <a:ext cx="3145536" cy="4743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0E6E8C"/>
                </a:solidFill>
                <a:latin typeface="微软雅黑"/>
                <a:ea typeface="微软雅黑"/>
                <a:cs typeface="微软雅黑"/>
              </a:rPr>
              <a:t>路由分文件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9432" y="2340864"/>
            <a:ext cx="3145536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1B2A33"/>
                </a:solidFill>
                <a:latin typeface="微软雅黑"/>
                <a:ea typeface="微软雅黑"/>
                <a:cs typeface="微软雅黑"/>
              </a:rPr>
              <a:t>index.js 只 import，各写各的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19" y="1591056"/>
            <a:ext cx="3584448" cy="1920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39327" y="1792224"/>
            <a:ext cx="3145536" cy="4743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0E6E8C"/>
                </a:solidFill>
                <a:latin typeface="微软雅黑"/>
                <a:ea typeface="微软雅黑"/>
                <a:cs typeface="微软雅黑"/>
              </a:rPr>
              <a:t>契约先行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39327" y="2340864"/>
            <a:ext cx="3145536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1B2A33"/>
                </a:solidFill>
                <a:latin typeface="微软雅黑"/>
                <a:ea typeface="微软雅黑"/>
                <a:cs typeface="微软雅黑"/>
              </a:rPr>
              <a:t>45 个接口先定，前端按契约 mock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785615"/>
            <a:ext cx="11057839" cy="2011680"/>
          </a:xfrm>
          <a:prstGeom prst="roundRect">
            <a:avLst>
              <a:gd name="adj" fmla="val 5000"/>
            </a:avLst>
          </a:prstGeom>
          <a:solidFill>
            <a:srgbClr val="F2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7824" y="3950208"/>
            <a:ext cx="10436047" cy="4743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0E6E8C"/>
                </a:solidFill>
                <a:latin typeface="微软雅黑"/>
                <a:ea typeface="微软雅黑"/>
                <a:cs typeface="微软雅黑"/>
              </a:rPr>
              <a:t>结果：代码文件一次冲突都没有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" y="4498848"/>
            <a:ext cx="10436047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1B2A33"/>
                </a:solidFill>
                <a:latin typeface="微软雅黑"/>
                <a:ea typeface="微软雅黑"/>
                <a:cs typeface="微软雅黑"/>
              </a:rPr>
              <a:t>唯一需要人工合并的是需求跟踪矩阵这个共享 xlsx——两边改同一个二进制文件，git 合不了；最后由组长以带效果图的版本为基线，把我补的 14 条功能点并回去。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8229600" cy="396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0E6E8C"/>
                </a:solidFill>
                <a:latin typeface="微软雅黑"/>
                <a:ea typeface="微软雅黑"/>
                <a:cs typeface="微软雅黑"/>
              </a:rPr>
              <a:t>③ ⑥ 测试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68096"/>
            <a:ext cx="1050919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1B2A33"/>
                </a:solidFill>
                <a:latin typeface="微软雅黑"/>
                <a:ea typeface="微软雅黑"/>
                <a:cs typeface="微软雅黑"/>
              </a:rPr>
              <a:t>四层测试，每层都有可复现证据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48695" y="6199632"/>
            <a:ext cx="548640" cy="396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4E606B"/>
                </a:solidFill>
                <a:latin typeface="微软雅黑"/>
                <a:ea typeface="微软雅黑"/>
                <a:cs typeface="微软雅黑"/>
              </a:rPr>
              <a:t>15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591056"/>
          <a:ext cx="11055096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3108960"/>
                <a:gridCol w="5111496"/>
              </a:tblGrid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8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测试层</a:t>
                      </a:r>
                    </a:p>
                  </a:txBody>
                  <a:tcPr marL="91440" marR="54864" marT="18288" marB="18288" anchor="ctr">
                    <a:solidFill>
                      <a:srgbClr val="0E6E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结果</a:t>
                      </a:r>
                    </a:p>
                  </a:txBody>
                  <a:tcPr marL="91440" marR="54864" marT="18288" marB="18288" anchor="ctr">
                    <a:solidFill>
                      <a:srgbClr val="0E6E8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覆盖重点</a:t>
                      </a:r>
                    </a:p>
                  </a:txBody>
                  <a:tcPr marL="91440" marR="54864" marT="18288" marB="18288" anchor="ctr">
                    <a:solidFill>
                      <a:srgbClr val="0E6E8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800" b="0" i="0">
                          <a:solidFill>
                            <a:srgbClr val="1B2A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后端单元与业务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i="0">
                          <a:solidFill>
                            <a:srgbClr val="1B2A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140 项通过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i="0">
                          <a:solidFill>
                            <a:srgbClr val="1B2A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业务规则、权限、AI 降级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800" b="0" i="0">
                          <a:solidFill>
                            <a:srgbClr val="1B2A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接口验收 SQLite</a:t>
                      </a:r>
                    </a:p>
                  </a:txBody>
                  <a:tcPr marL="91440" marR="54864" marT="18288" marB="18288" anchor="ctr"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i="0">
                          <a:solidFill>
                            <a:srgbClr val="1B2A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24 通过 / 8 跳过</a:t>
                      </a:r>
                    </a:p>
                  </a:txBody>
                  <a:tcPr marL="91440" marR="54864" marT="18288" marB="18288" anchor="ctr"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i="0">
                          <a:solidFill>
                            <a:srgbClr val="1B2A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跳过项要 MySQL 行锁</a:t>
                      </a:r>
                    </a:p>
                  </a:txBody>
                  <a:tcPr marL="91440" marR="54864" marT="18288" marB="18288" anchor="ctr">
                    <a:solidFill>
                      <a:srgbClr val="F2F6F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800" b="0" i="0">
                          <a:solidFill>
                            <a:srgbClr val="1B2A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接口验收 MySQL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i="0">
                          <a:solidFill>
                            <a:srgbClr val="1B2A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38 项通过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i="0">
                          <a:solidFill>
                            <a:srgbClr val="1B2A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并发、重复绑定、最后名额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800" b="0" i="0">
                          <a:solidFill>
                            <a:srgbClr val="1B2A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浏览器联调</a:t>
                      </a:r>
                    </a:p>
                  </a:txBody>
                  <a:tcPr marL="91440" marR="54864" marT="18288" marB="18288" anchor="ctr"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i="0">
                          <a:solidFill>
                            <a:srgbClr val="1B2A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44 项通过</a:t>
                      </a:r>
                    </a:p>
                  </a:txBody>
                  <a:tcPr marL="91440" marR="54864" marT="18288" marB="18288" anchor="ctr"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i="0">
                          <a:solidFill>
                            <a:srgbClr val="1B2A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四角色、403、网络失败</a:t>
                      </a:r>
                    </a:p>
                  </a:txBody>
                  <a:tcPr marL="91440" marR="54864" marT="18288" marB="18288" anchor="ctr">
                    <a:solidFill>
                      <a:srgbClr val="F2F6F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800" b="0" i="0">
                          <a:solidFill>
                            <a:srgbClr val="1B2A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截图验收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i="0">
                          <a:solidFill>
                            <a:srgbClr val="1B2A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40 项留档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i="0">
                          <a:solidFill>
                            <a:srgbClr val="1B2A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成绩书逐条勾选 + 22 张图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4882896"/>
            <a:ext cx="1105783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4E606B"/>
                </a:solidFill>
                <a:latin typeface="微软雅黑"/>
                <a:ea typeface="微软雅黑"/>
                <a:cs typeface="微软雅黑"/>
              </a:rPr>
              <a:t>每个数字都对应一份脚本和一份结果文件，测试库用后即删。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8229600" cy="396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0E6E8C"/>
                </a:solidFill>
                <a:latin typeface="微软雅黑"/>
                <a:ea typeface="微软雅黑"/>
                <a:cs typeface="微软雅黑"/>
              </a:rPr>
              <a:t>③ ⑥ 测试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68096"/>
            <a:ext cx="1050919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1B2A33"/>
                </a:solidFill>
                <a:latin typeface="微软雅黑"/>
                <a:ea typeface="微软雅黑"/>
                <a:cs typeface="微软雅黑"/>
              </a:rPr>
              <a:t>缺陷：审查发现 → 分级 → 修复 → 回归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48695" y="6199632"/>
            <a:ext cx="548640" cy="396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4E606B"/>
                </a:solidFill>
                <a:latin typeface="微软雅黑"/>
                <a:ea typeface="微软雅黑"/>
                <a:cs typeface="微软雅黑"/>
              </a:rPr>
              <a:t>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554480"/>
            <a:ext cx="2468880" cy="22128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645920"/>
            <a:ext cx="1956816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800" b="1" i="0">
                <a:solidFill>
                  <a:srgbClr val="2E7D52"/>
                </a:solidFill>
                <a:latin typeface="微软雅黑"/>
                <a:ea typeface="微软雅黑"/>
                <a:cs typeface="微软雅黑"/>
              </a:rPr>
              <a:t>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468880"/>
            <a:ext cx="1956816" cy="4353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1B2A33"/>
                </a:solidFill>
                <a:latin typeface="微软雅黑"/>
                <a:ea typeface="微软雅黑"/>
                <a:cs typeface="微软雅黑"/>
              </a:rPr>
              <a:t>个严重缺陷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926080"/>
            <a:ext cx="195681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4E606B"/>
                </a:solidFill>
                <a:latin typeface="微软雅黑"/>
                <a:ea typeface="微软雅黑"/>
                <a:cs typeface="微软雅黑"/>
              </a:rPr>
              <a:t>无注入 · 无越权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63824" y="1554480"/>
            <a:ext cx="2468880" cy="22128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38144" y="1645920"/>
            <a:ext cx="1956816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800" b="1" i="0">
                <a:solidFill>
                  <a:srgbClr val="D08A2C"/>
                </a:solidFill>
                <a:latin typeface="微软雅黑"/>
                <a:ea typeface="微软雅黑"/>
                <a:cs typeface="微软雅黑"/>
              </a:rPr>
              <a:t>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38144" y="2468880"/>
            <a:ext cx="1956816" cy="4353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1B2A33"/>
                </a:solidFill>
                <a:latin typeface="微软雅黑"/>
                <a:ea typeface="微软雅黑"/>
                <a:cs typeface="微软雅黑"/>
              </a:rPr>
              <a:t>条已登记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38144" y="2926080"/>
            <a:ext cx="1956816" cy="747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4E606B"/>
                </a:solidFill>
                <a:latin typeface="微软雅黑"/>
                <a:ea typeface="微软雅黑"/>
                <a:cs typeface="微软雅黑"/>
              </a:rPr>
              <a:t>中危 4 · 低危 21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60720" y="1554480"/>
            <a:ext cx="2468880" cy="22128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0" y="1645920"/>
            <a:ext cx="1956816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800" b="1" i="0">
                <a:solidFill>
                  <a:srgbClr val="0E6E8C"/>
                </a:solidFill>
                <a:latin typeface="微软雅黑"/>
                <a:ea typeface="微软雅黑"/>
                <a:cs typeface="微软雅黑"/>
              </a:rPr>
              <a:t>2.3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2468880"/>
            <a:ext cx="1956816" cy="4353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1B2A33"/>
                </a:solidFill>
                <a:latin typeface="微软雅黑"/>
                <a:ea typeface="微软雅黑"/>
                <a:cs typeface="微软雅黑"/>
              </a:rPr>
              <a:t>条/千行代码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2926080"/>
            <a:ext cx="195681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4E606B"/>
                </a:solidFill>
                <a:latin typeface="微软雅黑"/>
                <a:ea typeface="微软雅黑"/>
                <a:cs typeface="微软雅黑"/>
              </a:rPr>
              <a:t>25 ÷ 10.9 KLOC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49055" y="1609344"/>
            <a:ext cx="3163824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4E606B"/>
                </a:solidFill>
                <a:latin typeface="微软雅黑"/>
                <a:ea typeface="微软雅黑"/>
                <a:cs typeface="微软雅黑"/>
              </a:rPr>
              <a:t>密度口径：25 条 ÷ 10.9 KLOC（后端 app + 前端 src + SQL）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566928" y="3803904"/>
          <a:ext cx="11055096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63440"/>
                <a:gridCol w="1005840"/>
                <a:gridCol w="5385816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8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问题</a:t>
                      </a:r>
                    </a:p>
                  </a:txBody>
                  <a:tcPr marL="91440" marR="54864" marT="18288" marB="18288" anchor="ctr">
                    <a:solidFill>
                      <a:srgbClr val="0E6E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级别</a:t>
                      </a:r>
                    </a:p>
                  </a:txBody>
                  <a:tcPr marL="91440" marR="54864" marT="18288" marB="18288" anchor="ctr">
                    <a:solidFill>
                      <a:srgbClr val="0E6E8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修复</a:t>
                      </a:r>
                    </a:p>
                  </a:txBody>
                  <a:tcPr marL="91440" marR="54864" marT="18288" marB="18288" anchor="ctr">
                    <a:solidFill>
                      <a:srgbClr val="0E6E8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800" b="0" i="0">
                          <a:solidFill>
                            <a:srgbClr val="1B2A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录入只有非空校验，9999 能入库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i="0">
                          <a:solidFill>
                            <a:srgbClr val="1B2A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中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i="0">
                          <a:solidFill>
                            <a:srgbClr val="1B2A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加范围校验，禁未来时间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800" b="0" i="0">
                          <a:solidFill>
                            <a:srgbClr val="1B2A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改手机号不验密码</a:t>
                      </a:r>
                    </a:p>
                  </a:txBody>
                  <a:tcPr marL="91440" marR="54864" marT="18288" marB="18288" anchor="ctr"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i="0">
                          <a:solidFill>
                            <a:srgbClr val="1B2A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中</a:t>
                      </a:r>
                    </a:p>
                  </a:txBody>
                  <a:tcPr marL="91440" marR="54864" marT="18288" marB="18288" anchor="ctr"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i="0">
                          <a:solidFill>
                            <a:srgbClr val="1B2A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验密 + 轮换会话</a:t>
                      </a:r>
                    </a:p>
                  </a:txBody>
                  <a:tcPr marL="91440" marR="54864" marT="18288" marB="18288" anchor="ctr">
                    <a:solidFill>
                      <a:srgbClr val="F2F6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800" b="0" i="0">
                          <a:solidFill>
                            <a:srgbClr val="1B2A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AI 摘要无配额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i="0">
                          <a:solidFill>
                            <a:srgbClr val="1B2A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中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i="0">
                          <a:solidFill>
                            <a:srgbClr val="1B2A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统一配额 + 重试冷却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800" b="0" i="0">
                          <a:solidFill>
                            <a:srgbClr val="1B2A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通知点击失败无反应</a:t>
                      </a:r>
                    </a:p>
                  </a:txBody>
                  <a:tcPr marL="91440" marR="54864" marT="18288" marB="18288" anchor="ctr"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i="0">
                          <a:solidFill>
                            <a:srgbClr val="1B2A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低</a:t>
                      </a:r>
                    </a:p>
                  </a:txBody>
                  <a:tcPr marL="91440" marR="54864" marT="18288" marB="18288" anchor="ctr"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i="0">
                          <a:solidFill>
                            <a:srgbClr val="1B2A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加异常处理，失败也提示</a:t>
                      </a:r>
                    </a:p>
                  </a:txBody>
                  <a:tcPr marL="91440" marR="54864" marT="18288" marB="18288" anchor="ctr">
                    <a:solidFill>
                      <a:srgbClr val="F2F6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8229600" cy="396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0E6E8C"/>
                </a:solidFill>
                <a:latin typeface="微软雅黑"/>
                <a:ea typeface="微软雅黑"/>
                <a:cs typeface="微软雅黑"/>
              </a:rPr>
              <a:t>④ 使用的 AI 工具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68096"/>
            <a:ext cx="1050919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1B2A33"/>
                </a:solidFill>
                <a:latin typeface="微软雅黑"/>
                <a:ea typeface="微软雅黑"/>
                <a:cs typeface="微软雅黑"/>
              </a:rPr>
              <a:t>四块实际用法，都有落盘痕迹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48695" y="6199632"/>
            <a:ext cx="548640" cy="396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4E606B"/>
                </a:solidFill>
                <a:latin typeface="微软雅黑"/>
                <a:ea typeface="微软雅黑"/>
                <a:cs typeface="微软雅黑"/>
              </a:rPr>
              <a:t>17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591056"/>
            <a:ext cx="5468112" cy="17556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1755648"/>
          </a:xfrm>
          <a:prstGeom prst="rect">
            <a:avLst/>
          </a:prstGeom>
          <a:solidFill>
            <a:srgbClr val="0E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1755648"/>
            <a:ext cx="1005840" cy="396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D08A2C"/>
                </a:solidFill>
                <a:latin typeface="微软雅黑"/>
                <a:ea typeface="微软雅黑"/>
                <a:cs typeface="微软雅黑"/>
              </a:rPr>
              <a:t>编码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38528" y="1719072"/>
            <a:ext cx="3931920" cy="4743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1B2A33"/>
                </a:solidFill>
                <a:latin typeface="微软雅黑"/>
                <a:ea typeface="微软雅黑"/>
                <a:cs typeface="微软雅黑"/>
              </a:rPr>
              <a:t>AI 编码助手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2340864"/>
            <a:ext cx="4937760" cy="859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4E606B"/>
                </a:solidFill>
                <a:latin typeface="微软雅黑"/>
                <a:ea typeface="微软雅黑"/>
                <a:cs typeface="微软雅黑"/>
              </a:rPr>
              <a:t>仓库里的 AGENTS.md 就是写给 AI 的约定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3912" y="1591056"/>
            <a:ext cx="5468112" cy="17556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53912" y="1591056"/>
            <a:ext cx="64008" cy="1755648"/>
          </a:xfrm>
          <a:prstGeom prst="rect">
            <a:avLst/>
          </a:prstGeom>
          <a:solidFill>
            <a:srgbClr val="D08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8" y="1755648"/>
            <a:ext cx="1005840" cy="396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D08A2C"/>
                </a:solidFill>
                <a:latin typeface="微软雅黑"/>
                <a:ea typeface="微软雅黑"/>
                <a:cs typeface="微软雅黑"/>
              </a:rPr>
              <a:t>文档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25512" y="1719072"/>
            <a:ext cx="3931920" cy="4743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1B2A33"/>
                </a:solidFill>
                <a:latin typeface="微软雅黑"/>
                <a:ea typeface="微软雅黑"/>
                <a:cs typeface="微软雅黑"/>
              </a:rPr>
              <a:t>md 为源，AI 出初稿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4808" y="2340864"/>
            <a:ext cx="4937760" cy="859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4E606B"/>
                </a:solidFill>
                <a:latin typeface="微软雅黑"/>
                <a:ea typeface="微软雅黑"/>
                <a:cs typeface="微软雅黑"/>
              </a:rPr>
              <a:t>人工逐节修订后转 docx 双份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11296"/>
            <a:ext cx="5468112" cy="17556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3511296"/>
            <a:ext cx="64008" cy="1755648"/>
          </a:xfrm>
          <a:prstGeom prst="rect">
            <a:avLst/>
          </a:prstGeom>
          <a:solidFill>
            <a:srgbClr val="0E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7824" y="3675887"/>
            <a:ext cx="1005840" cy="396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D08A2C"/>
                </a:solidFill>
                <a:latin typeface="微软雅黑"/>
                <a:ea typeface="微软雅黑"/>
                <a:cs typeface="微软雅黑"/>
              </a:rPr>
              <a:t>测试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38528" y="3639312"/>
            <a:ext cx="3931920" cy="4743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1B2A33"/>
                </a:solidFill>
                <a:latin typeface="微软雅黑"/>
                <a:ea typeface="微软雅黑"/>
                <a:cs typeface="微软雅黑"/>
              </a:rPr>
              <a:t>脚本 + 截图证据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" y="4261104"/>
            <a:ext cx="4937760" cy="859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4E606B"/>
                </a:solidFill>
                <a:latin typeface="微软雅黑"/>
                <a:ea typeface="微软雅黑"/>
                <a:cs typeface="微软雅黑"/>
              </a:rPr>
              <a:t>浏览器联调脚本 AI 辅助编写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3912" y="3511296"/>
            <a:ext cx="5468112" cy="17556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53912" y="3511296"/>
            <a:ext cx="64008" cy="1755648"/>
          </a:xfrm>
          <a:prstGeom prst="rect">
            <a:avLst/>
          </a:prstGeom>
          <a:solidFill>
            <a:srgbClr val="D08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64808" y="3675887"/>
            <a:ext cx="1005840" cy="396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D08A2C"/>
                </a:solidFill>
                <a:latin typeface="微软雅黑"/>
                <a:ea typeface="微软雅黑"/>
                <a:cs typeface="微软雅黑"/>
              </a:rPr>
              <a:t>审计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25512" y="3639312"/>
            <a:ext cx="3931920" cy="4743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1B2A33"/>
                </a:solidFill>
                <a:latin typeface="微软雅黑"/>
                <a:ea typeface="微软雅黑"/>
                <a:cs typeface="微软雅黑"/>
              </a:rPr>
              <a:t>审计代理 + 人工复核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64808" y="4261104"/>
            <a:ext cx="4937760" cy="859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4E606B"/>
                </a:solidFill>
                <a:latin typeface="微软雅黑"/>
                <a:ea typeface="微软雅黑"/>
                <a:cs typeface="微软雅黑"/>
              </a:rPr>
              <a:t>漏洞报告由代理产出，复核改了 2 处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5541264"/>
            <a:ext cx="9823399" cy="731520"/>
          </a:xfrm>
          <a:prstGeom prst="roundRect">
            <a:avLst>
              <a:gd name="adj" fmla="val 5000"/>
            </a:avLst>
          </a:prstGeom>
          <a:solidFill>
            <a:srgbClr val="F2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7" y="5669280"/>
            <a:ext cx="950335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1B2A33"/>
                </a:solidFill>
                <a:latin typeface="微软雅黑"/>
                <a:ea typeface="微软雅黑"/>
                <a:cs typeface="微软雅黑"/>
              </a:rPr>
              <a:t>纪律：AI 不执行 SQL、不判权限、不写库；结论都要能指回原文。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8229600" cy="396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0E6E8C"/>
                </a:solidFill>
                <a:latin typeface="微软雅黑"/>
                <a:ea typeface="微软雅黑"/>
                <a:cs typeface="微软雅黑"/>
              </a:rPr>
              <a:t>⑤ 项目成果展示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68096"/>
            <a:ext cx="1050919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1B2A33"/>
                </a:solidFill>
                <a:latin typeface="微软雅黑"/>
                <a:ea typeface="微软雅黑"/>
                <a:cs typeface="微软雅黑"/>
              </a:rPr>
              <a:t>四类角色的系统，主闭环一条线走完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48695" y="6199632"/>
            <a:ext cx="548640" cy="396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4E606B"/>
                </a:solidFill>
                <a:latin typeface="微软雅黑"/>
                <a:ea typeface="微软雅黑"/>
                <a:cs typeface="微软雅黑"/>
              </a:rPr>
              <a:t>18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572768"/>
            <a:ext cx="2670048" cy="1920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6" name="Picture 5" descr="elder-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" y="1682495"/>
            <a:ext cx="1645920" cy="12984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76656" y="3054096"/>
            <a:ext cx="2450592" cy="396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4E606B"/>
                </a:solidFill>
                <a:latin typeface="微软雅黑"/>
                <a:ea typeface="微软雅黑"/>
                <a:cs typeface="微软雅黑"/>
              </a:rPr>
              <a:t>老人端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64992" y="1572768"/>
            <a:ext cx="2670048" cy="1920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9" name="Picture 8" descr="family-notifica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7056" y="1682495"/>
            <a:ext cx="1645920" cy="129844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474720" y="3054096"/>
            <a:ext cx="2450592" cy="396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4E606B"/>
                </a:solidFill>
                <a:latin typeface="微软雅黑"/>
                <a:ea typeface="微软雅黑"/>
                <a:cs typeface="微软雅黑"/>
              </a:rPr>
              <a:t>家属端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639311"/>
            <a:ext cx="2670048" cy="1920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12" name="Picture 11" descr="care-handl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" y="3749039"/>
            <a:ext cx="1645920" cy="129844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76656" y="5120640"/>
            <a:ext cx="2450592" cy="396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4E606B"/>
                </a:solidFill>
                <a:latin typeface="微软雅黑"/>
                <a:ea typeface="微软雅黑"/>
                <a:cs typeface="微软雅黑"/>
              </a:rPr>
              <a:t>护工端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64992" y="3639311"/>
            <a:ext cx="2670048" cy="1920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15" name="Picture 14" descr="admin-statistic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68338" y="3749039"/>
            <a:ext cx="1263354" cy="129844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474720" y="5120640"/>
            <a:ext cx="2450592" cy="396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4E606B"/>
                </a:solidFill>
                <a:latin typeface="微软雅黑"/>
                <a:ea typeface="微软雅黑"/>
                <a:cs typeface="微软雅黑"/>
              </a:rPr>
              <a:t>管理员端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81344" y="1572768"/>
            <a:ext cx="5422392" cy="40050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55664" y="1737360"/>
            <a:ext cx="4846320" cy="4743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0E6E8C"/>
                </a:solidFill>
                <a:latin typeface="微软雅黑"/>
                <a:ea typeface="微软雅黑"/>
                <a:cs typeface="微软雅黑"/>
              </a:rPr>
              <a:t>现场演示：3 分钟走完闭环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5664" y="2304288"/>
            <a:ext cx="4846320" cy="4158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>
                <a:solidFill>
                  <a:srgbClr val="1B2A33"/>
                </a:solidFill>
                <a:latin typeface="微软雅黑"/>
                <a:ea typeface="微软雅黑"/>
                <a:cs typeface="微软雅黑"/>
              </a:rPr>
              <a:t>① 老人端录入 180/110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55664" y="2944368"/>
            <a:ext cx="4846320" cy="4158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>
                <a:solidFill>
                  <a:srgbClr val="1B2A33"/>
                </a:solidFill>
                <a:latin typeface="微软雅黑"/>
                <a:ea typeface="微软雅黑"/>
                <a:cs typeface="微软雅黑"/>
              </a:rPr>
              <a:t>② 后端判高风险并建预警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55664" y="3584448"/>
            <a:ext cx="4846320" cy="4158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>
                <a:solidFill>
                  <a:srgbClr val="1B2A33"/>
                </a:solidFill>
                <a:latin typeface="微软雅黑"/>
                <a:ea typeface="微软雅黑"/>
                <a:cs typeface="微软雅黑"/>
              </a:rPr>
              <a:t>③ 家属端收到通知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55664" y="4224528"/>
            <a:ext cx="4846320" cy="4158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>
                <a:solidFill>
                  <a:srgbClr val="1B2A33"/>
                </a:solidFill>
                <a:latin typeface="微软雅黑"/>
                <a:ea typeface="微软雅黑"/>
                <a:cs typeface="微软雅黑"/>
              </a:rPr>
              <a:t>④ 护工端接单处理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4864608"/>
            <a:ext cx="4846320" cy="4158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>
                <a:solidFill>
                  <a:srgbClr val="1B2A33"/>
                </a:solidFill>
                <a:latin typeface="微软雅黑"/>
                <a:ea typeface="微软雅黑"/>
                <a:cs typeface="微软雅黑"/>
              </a:rPr>
              <a:t>⑤ 两端都能查到记录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5815584"/>
            <a:ext cx="9777679" cy="396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4E606B"/>
                </a:solidFill>
                <a:latin typeface="微软雅黑"/>
                <a:ea typeface="微软雅黑"/>
                <a:cs typeface="微软雅黑"/>
              </a:rPr>
              <a:t>演示用隔离 SQLite 库，四个角色各开一个窗口。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8229600" cy="396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0E6E8C"/>
                </a:solidFill>
                <a:latin typeface="微软雅黑"/>
                <a:ea typeface="微软雅黑"/>
                <a:cs typeface="微软雅黑"/>
              </a:rPr>
              <a:t>⑥ 不足与展望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68096"/>
            <a:ext cx="1050919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1B2A33"/>
                </a:solidFill>
                <a:latin typeface="微软雅黑"/>
                <a:ea typeface="微软雅黑"/>
                <a:cs typeface="微软雅黑"/>
              </a:rPr>
              <a:t>三条真问题，都在过程中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48695" y="6199632"/>
            <a:ext cx="548640" cy="396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4E606B"/>
                </a:solidFill>
                <a:latin typeface="微软雅黑"/>
                <a:ea typeface="微软雅黑"/>
                <a:cs typeface="微软雅黑"/>
              </a:rPr>
              <a:t>19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591056"/>
            <a:ext cx="3584448" cy="2651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773936"/>
            <a:ext cx="3108960" cy="396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D08A2C"/>
                </a:solidFill>
                <a:latin typeface="微软雅黑"/>
                <a:ea typeface="微软雅黑"/>
                <a:cs typeface="微软雅黑"/>
              </a:rPr>
              <a:t>过程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231136"/>
            <a:ext cx="31089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1B2A33"/>
                </a:solidFill>
                <a:latin typeface="微软雅黑"/>
                <a:ea typeface="微软雅黑"/>
                <a:cs typeface="微软雅黑"/>
              </a:rPr>
              <a:t>文档追着代码跑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962656"/>
            <a:ext cx="31089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4E606B"/>
                </a:solidFill>
                <a:latin typeface="微软雅黑"/>
                <a:ea typeface="微软雅黑"/>
                <a:cs typeface="微软雅黑"/>
              </a:rPr>
              <a:t>v2 扩展没同步补进接口契约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06824" y="1591056"/>
            <a:ext cx="3584448" cy="2651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81144" y="1773936"/>
            <a:ext cx="3108960" cy="396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D08A2C"/>
                </a:solidFill>
                <a:latin typeface="微软雅黑"/>
                <a:ea typeface="微软雅黑"/>
                <a:cs typeface="微软雅黑"/>
              </a:rPr>
              <a:t>技术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81144" y="2231136"/>
            <a:ext cx="31089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1B2A33"/>
                </a:solidFill>
                <a:latin typeface="微软雅黑"/>
                <a:ea typeface="微软雅黑"/>
                <a:cs typeface="微软雅黑"/>
              </a:rPr>
              <a:t>AI 与前端有欠账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81144" y="2962656"/>
            <a:ext cx="31089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4E606B"/>
                </a:solidFill>
                <a:latin typeface="微软雅黑"/>
                <a:ea typeface="微软雅黑"/>
                <a:cs typeface="微软雅黑"/>
              </a:rPr>
              <a:t>模型质量未完整验收、前端无单测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19" y="1591056"/>
            <a:ext cx="3584448" cy="2651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773936"/>
            <a:ext cx="3108960" cy="396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D08A2C"/>
                </a:solidFill>
                <a:latin typeface="微软雅黑"/>
                <a:ea typeface="微软雅黑"/>
                <a:cs typeface="微软雅黑"/>
              </a:rPr>
              <a:t>协作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231136"/>
            <a:ext cx="31089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1B2A33"/>
                </a:solidFill>
                <a:latin typeface="微软雅黑"/>
                <a:ea typeface="微软雅黑"/>
                <a:cs typeface="微软雅黑"/>
              </a:rPr>
              <a:t>三人扛五人的活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962656"/>
            <a:ext cx="31089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4E606B"/>
                </a:solidFill>
                <a:latin typeface="微软雅黑"/>
                <a:ea typeface="微软雅黑"/>
                <a:cs typeface="微软雅黑"/>
              </a:rPr>
              <a:t>组长一人担后端 DB AI，成瓶颈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498848"/>
            <a:ext cx="11057839" cy="1298448"/>
          </a:xfrm>
          <a:prstGeom prst="roundRect">
            <a:avLst>
              <a:gd name="adj" fmla="val 5000"/>
            </a:avLst>
          </a:prstGeom>
          <a:solidFill>
            <a:srgbClr val="F2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" y="4645152"/>
            <a:ext cx="10472623" cy="4353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E6E8C"/>
                </a:solidFill>
                <a:latin typeface="微软雅黑"/>
                <a:ea typeface="微软雅黑"/>
                <a:cs typeface="微软雅黑"/>
              </a:rPr>
              <a:t>下一步先补三件事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" y="5120640"/>
            <a:ext cx="1047262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>
                <a:solidFill>
                  <a:srgbClr val="1B2A33"/>
                </a:solidFill>
                <a:latin typeface="微软雅黑"/>
                <a:ea typeface="微软雅黑"/>
                <a:cs typeface="微软雅黑"/>
              </a:rPr>
              <a:t>补契约 · 加前端单测 · 用真实模型跑一轮带成本的评估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6304" y="0"/>
            <a:ext cx="45720" cy="6858000"/>
          </a:xfrm>
          <a:prstGeom prst="rect">
            <a:avLst/>
          </a:prstGeom>
          <a:solidFill>
            <a:srgbClr val="D08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377440"/>
            <a:ext cx="10058400" cy="9418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4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感谢各位老师，请批评指正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3529584"/>
            <a:ext cx="1463040" cy="45720"/>
          </a:xfrm>
          <a:prstGeom prst="rect">
            <a:avLst/>
          </a:prstGeom>
          <a:solidFill>
            <a:srgbClr val="D08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3858768"/>
            <a:ext cx="10058400" cy="4353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>
                <a:solidFill>
                  <a:srgbClr val="BFD7E2"/>
                </a:solidFill>
                <a:latin typeface="微软雅黑"/>
                <a:ea typeface="微软雅黑"/>
                <a:cs typeface="微软雅黑"/>
              </a:rPr>
              <a:t>第 17 小组　丘宇乾　梁霁鸣　周彦龙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4407408"/>
            <a:ext cx="10058400" cy="396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9EC3D4"/>
                </a:solidFill>
                <a:latin typeface="微软雅黑"/>
                <a:ea typeface="微软雅黑"/>
                <a:cs typeface="微软雅黑"/>
              </a:rPr>
              <a:t>基于 AI 智能体的康养系统 · 2026 年秋季实习实训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